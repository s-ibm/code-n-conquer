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handoutMasterIdLst>
    <p:handoutMasterId r:id="rId21"/>
  </p:handoutMasterIdLst>
  <p:sldIdLst>
    <p:sldId id="256" r:id="rId5"/>
    <p:sldId id="272" r:id="rId6"/>
    <p:sldId id="258" r:id="rId7"/>
    <p:sldId id="273" r:id="rId8"/>
    <p:sldId id="275" r:id="rId9"/>
    <p:sldId id="276" r:id="rId10"/>
    <p:sldId id="277" r:id="rId11"/>
    <p:sldId id="278" r:id="rId12"/>
    <p:sldId id="279" r:id="rId13"/>
    <p:sldId id="280" r:id="rId14"/>
    <p:sldId id="266" r:id="rId15"/>
    <p:sldId id="274" r:id="rId16"/>
    <p:sldId id="281" r:id="rId17"/>
    <p:sldId id="282" r:id="rId18"/>
    <p:sldId id="284" r:id="rId19"/>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06FAAE-48CA-46C3-9C34-F4AF4F6A0132}" v="6" dt="2025-11-15T09:08:40.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107" d="100"/>
          <a:sy n="107" d="100"/>
        </p:scale>
        <p:origin x="672" y="96"/>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alib Rahman" userId="3f43bb2cf4f6d244" providerId="LiveId" clId="{3610BCF7-A591-4F0A-A5B7-2246E4B0EB0B}"/>
    <pc:docChg chg="undo custSel addSld delSld modSld">
      <pc:chgData name="Taalib Rahman" userId="3f43bb2cf4f6d244" providerId="LiveId" clId="{3610BCF7-A591-4F0A-A5B7-2246E4B0EB0B}" dt="2025-11-15T09:08:49.047" v="95" actId="255"/>
      <pc:docMkLst>
        <pc:docMk/>
      </pc:docMkLst>
      <pc:sldChg chg="addSp delSp modSp new mod">
        <pc:chgData name="Taalib Rahman" userId="3f43bb2cf4f6d244" providerId="LiveId" clId="{3610BCF7-A591-4F0A-A5B7-2246E4B0EB0B}" dt="2025-11-15T09:08:49.047" v="95" actId="255"/>
        <pc:sldMkLst>
          <pc:docMk/>
          <pc:sldMk cId="2191596685" sldId="284"/>
        </pc:sldMkLst>
        <pc:spChg chg="add mod">
          <ac:chgData name="Taalib Rahman" userId="3f43bb2cf4f6d244" providerId="LiveId" clId="{3610BCF7-A591-4F0A-A5B7-2246E4B0EB0B}" dt="2025-11-12T19:35:35.525" v="12" actId="2711"/>
          <ac:spMkLst>
            <pc:docMk/>
            <pc:sldMk cId="2191596685" sldId="284"/>
            <ac:spMk id="4" creationId="{CA52BA5D-6EEC-7045-6C32-ED2761526815}"/>
          </ac:spMkLst>
        </pc:spChg>
        <pc:spChg chg="add mod">
          <ac:chgData name="Taalib Rahman" userId="3f43bb2cf4f6d244" providerId="LiveId" clId="{3610BCF7-A591-4F0A-A5B7-2246E4B0EB0B}" dt="2025-11-15T09:08:49.047" v="95" actId="255"/>
          <ac:spMkLst>
            <pc:docMk/>
            <pc:sldMk cId="2191596685" sldId="284"/>
            <ac:spMk id="5" creationId="{82191BE8-C29B-0095-898C-35EED843370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11/15/2025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11/15/2025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11/15/2025</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11/15/2025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11/15/2025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11/15/2025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11/15/2025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11/15/2025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11/15/2025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11/15/2025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11/15/2025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11/15/2025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11/15/2025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11/15/2025</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 Id="rId14" Type="http://schemas.openxmlformats.org/officeDocument/2006/relationships/image" Target="../media/image2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 Id="rId14" Type="http://schemas.openxmlformats.org/officeDocument/2006/relationships/image" Target="../media/image38.svg"/></Relationships>
</file>

<file path=ppt/slides/_rels/slide13.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2.sv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svg"/><Relationship Id="rId4" Type="http://schemas.openxmlformats.org/officeDocument/2006/relationships/image" Target="../media/image40.svg"/><Relationship Id="rId9" Type="http://schemas.openxmlformats.org/officeDocument/2006/relationships/image" Target="../media/image4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EB20546-0C26-61DB-4A24-62345B947FBA}"/>
              </a:ext>
            </a:extLst>
          </p:cNvPr>
          <p:cNvSpPr txBox="1"/>
          <p:nvPr/>
        </p:nvSpPr>
        <p:spPr>
          <a:xfrm>
            <a:off x="1413892" y="548680"/>
            <a:ext cx="9865096" cy="3428945"/>
          </a:xfrm>
          <a:prstGeom prst="rect">
            <a:avLst/>
          </a:prstGeom>
        </p:spPr>
        <p:txBody>
          <a:bodyPr vert="horz" lIns="91416" tIns="45708" rIns="91416" bIns="45708" rtlCol="0" anchor="b">
            <a:noAutofit/>
          </a:bodyPr>
          <a:lstStyle/>
          <a:p>
            <a:pPr>
              <a:lnSpc>
                <a:spcPct val="90000"/>
              </a:lnSpc>
              <a:spcBef>
                <a:spcPct val="0"/>
              </a:spcBef>
              <a:spcAft>
                <a:spcPts val="600"/>
              </a:spcAft>
            </a:pPr>
            <a:r>
              <a:rPr lang="en-US" sz="4799" b="1" cap="all" dirty="0">
                <a:ln w="3175" cmpd="sng">
                  <a:noFill/>
                </a:ln>
                <a:latin typeface="Aptos Display" panose="020B0004020202020204" pitchFamily="34" charset="0"/>
                <a:ea typeface="ADLaM Display" panose="02010000000000000000" pitchFamily="2" charset="0"/>
                <a:cs typeface="ADLaM Display" panose="02010000000000000000" pitchFamily="2" charset="0"/>
              </a:rPr>
              <a:t>Neural Networks: </a:t>
            </a:r>
          </a:p>
          <a:p>
            <a:pPr>
              <a:lnSpc>
                <a:spcPct val="90000"/>
              </a:lnSpc>
              <a:spcBef>
                <a:spcPct val="0"/>
              </a:spcBef>
              <a:spcAft>
                <a:spcPts val="600"/>
              </a:spcAft>
            </a:pPr>
            <a:r>
              <a:rPr lang="en-US" sz="4799" b="1" cap="all" dirty="0">
                <a:ln w="3175" cmpd="sng">
                  <a:noFill/>
                </a:ln>
                <a:latin typeface="Aptos Display" panose="020B0004020202020204" pitchFamily="34" charset="0"/>
                <a:ea typeface="ADLaM Display" panose="02010000000000000000" pitchFamily="2" charset="0"/>
                <a:cs typeface="ADLaM Display" panose="02010000000000000000" pitchFamily="2" charset="0"/>
              </a:rPr>
              <a:t>Machine Learning Models</a:t>
            </a:r>
          </a:p>
          <a:p>
            <a:pPr>
              <a:lnSpc>
                <a:spcPct val="90000"/>
              </a:lnSpc>
              <a:spcBef>
                <a:spcPct val="0"/>
              </a:spcBef>
              <a:spcAft>
                <a:spcPts val="600"/>
              </a:spcAft>
            </a:pPr>
            <a:r>
              <a:rPr lang="en-US" b="1" cap="all" dirty="0">
                <a:ln w="3175" cmpd="sng">
                  <a:noFill/>
                </a:ln>
                <a:solidFill>
                  <a:schemeClr val="accent1">
                    <a:lumMod val="75000"/>
                  </a:schemeClr>
                </a:solidFill>
                <a:ea typeface="ADLaM Display" panose="02010000000000000000" pitchFamily="2" charset="0"/>
                <a:cs typeface="ADLaM Display" panose="02010000000000000000" pitchFamily="2" charset="0"/>
              </a:rPr>
              <a:t>Understanding Deep Learning Fundamentals</a:t>
            </a:r>
          </a:p>
        </p:txBody>
      </p:sp>
    </p:spTree>
    <p:extLst>
      <p:ext uri="{BB962C8B-B14F-4D97-AF65-F5344CB8AC3E}">
        <p14:creationId xmlns:p14="http://schemas.microsoft.com/office/powerpoint/2010/main" val="381848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258FF1-35E3-DF5F-A83D-97FFB630CF40}"/>
              </a:ext>
            </a:extLst>
          </p:cNvPr>
          <p:cNvSpPr txBox="1"/>
          <p:nvPr/>
        </p:nvSpPr>
        <p:spPr>
          <a:xfrm>
            <a:off x="1053852" y="302160"/>
            <a:ext cx="9731401" cy="5863144"/>
          </a:xfrm>
          <a:prstGeom prst="rect">
            <a:avLst/>
          </a:prstGeom>
          <a:noFill/>
        </p:spPr>
        <p:txBody>
          <a:bodyPr wrap="square">
            <a:spAutoFit/>
          </a:bodyPr>
          <a:lstStyle/>
          <a:p>
            <a:pPr>
              <a:lnSpc>
                <a:spcPct val="150000"/>
              </a:lnSpc>
              <a:buNone/>
            </a:pPr>
            <a:r>
              <a:rPr lang="en-US" sz="4000" b="1" dirty="0">
                <a:latin typeface="Aptos Display" panose="020B0004020202020204" pitchFamily="34" charset="0"/>
                <a:ea typeface="ADLaM Display" panose="02010000000000000000" pitchFamily="2" charset="0"/>
                <a:cs typeface="ADLaM Display" panose="02010000000000000000" pitchFamily="2" charset="0"/>
              </a:rPr>
              <a:t>TOPICS TO BE COVERED - </a:t>
            </a:r>
          </a:p>
          <a:p>
            <a:pPr marL="457200" indent="-457200">
              <a:lnSpc>
                <a:spcPct val="150000"/>
              </a:lnSpc>
              <a:buFont typeface="Arial" panose="020B0604020202020204" pitchFamily="34" charset="0"/>
              <a:buChar char="•"/>
            </a:pPr>
            <a:r>
              <a:rPr lang="en-US" sz="3000" dirty="0">
                <a:latin typeface="Aptos Display" panose="020B0004020202020204" pitchFamily="34" charset="0"/>
                <a:ea typeface="ADLaM Display" panose="02010000000000000000" pitchFamily="2" charset="0"/>
                <a:cs typeface="ADLaM Display" panose="02010000000000000000" pitchFamily="2" charset="0"/>
              </a:rPr>
              <a:t>Introduction to Neural Networks</a:t>
            </a:r>
          </a:p>
          <a:p>
            <a:pPr marL="457200" indent="-457200">
              <a:buFont typeface="Arial" panose="020B0604020202020204" pitchFamily="34" charset="0"/>
              <a:buChar char="•"/>
            </a:pPr>
            <a:r>
              <a:rPr lang="en-US" sz="3000" dirty="0">
                <a:latin typeface="Aptos Display" panose="020B0004020202020204" pitchFamily="34" charset="0"/>
                <a:ea typeface="ADLaM Display" panose="02010000000000000000" pitchFamily="2" charset="0"/>
                <a:cs typeface="ADLaM Display" panose="02010000000000000000" pitchFamily="2" charset="0"/>
              </a:rPr>
              <a:t>How Neural Networks Work</a:t>
            </a:r>
          </a:p>
          <a:p>
            <a:pPr marL="457200" indent="-457200">
              <a:buFont typeface="Arial" panose="020B0604020202020204" pitchFamily="34" charset="0"/>
              <a:buChar char="•"/>
            </a:pPr>
            <a:r>
              <a:rPr lang="en-US" sz="3000" dirty="0">
                <a:latin typeface="Aptos Display" panose="020B0004020202020204" pitchFamily="34" charset="0"/>
                <a:ea typeface="ADLaM Display" panose="02010000000000000000" pitchFamily="2" charset="0"/>
                <a:cs typeface="ADLaM Display" panose="02010000000000000000" pitchFamily="2" charset="0"/>
              </a:rPr>
              <a:t>Types of Neural Networks</a:t>
            </a:r>
          </a:p>
          <a:p>
            <a:pPr marL="457200" indent="-457200">
              <a:buFont typeface="Arial" panose="020B0604020202020204" pitchFamily="34" charset="0"/>
              <a:buChar char="•"/>
            </a:pPr>
            <a:r>
              <a:rPr lang="en-US" sz="3000" dirty="0">
                <a:latin typeface="Aptos Display" panose="020B0004020202020204" pitchFamily="34" charset="0"/>
                <a:ea typeface="ADLaM Display" panose="02010000000000000000" pitchFamily="2" charset="0"/>
                <a:cs typeface="ADLaM Display" panose="02010000000000000000" pitchFamily="2" charset="0"/>
              </a:rPr>
              <a:t>Training Process</a:t>
            </a:r>
          </a:p>
          <a:p>
            <a:pPr marL="457200" indent="-457200">
              <a:buFont typeface="Arial" panose="020B0604020202020204" pitchFamily="34" charset="0"/>
              <a:buChar char="•"/>
            </a:pPr>
            <a:r>
              <a:rPr lang="en-US" sz="3000" dirty="0">
                <a:latin typeface="Aptos Display" panose="020B0004020202020204" pitchFamily="34" charset="0"/>
                <a:ea typeface="ADLaM Display" panose="02010000000000000000" pitchFamily="2" charset="0"/>
                <a:cs typeface="ADLaM Display" panose="02010000000000000000" pitchFamily="2" charset="0"/>
              </a:rPr>
              <a:t>Activation Functions</a:t>
            </a:r>
          </a:p>
          <a:p>
            <a:pPr marL="457200" indent="-457200">
              <a:buFont typeface="Arial" panose="020B0604020202020204" pitchFamily="34" charset="0"/>
              <a:buChar char="•"/>
            </a:pPr>
            <a:r>
              <a:rPr lang="en-US" sz="3000" dirty="0">
                <a:latin typeface="Aptos Display" panose="020B0004020202020204" pitchFamily="34" charset="0"/>
                <a:ea typeface="ADLaM Display" panose="02010000000000000000" pitchFamily="2" charset="0"/>
                <a:cs typeface="ADLaM Display" panose="02010000000000000000" pitchFamily="2" charset="0"/>
              </a:rPr>
              <a:t>Deep Learning vs Traditional ML</a:t>
            </a:r>
          </a:p>
          <a:p>
            <a:pPr marL="457200" indent="-457200">
              <a:buFont typeface="Arial" panose="020B0604020202020204" pitchFamily="34" charset="0"/>
              <a:buChar char="•"/>
            </a:pPr>
            <a:r>
              <a:rPr lang="en-US" sz="3000" dirty="0">
                <a:latin typeface="Aptos Display" panose="020B0004020202020204" pitchFamily="34" charset="0"/>
                <a:ea typeface="ADLaM Display" panose="02010000000000000000" pitchFamily="2" charset="0"/>
                <a:cs typeface="ADLaM Display" panose="02010000000000000000" pitchFamily="2" charset="0"/>
              </a:rPr>
              <a:t>Applications &amp; Use Cases</a:t>
            </a:r>
          </a:p>
          <a:p>
            <a:pPr marL="457200" indent="-457200">
              <a:buFont typeface="Arial" panose="020B0604020202020204" pitchFamily="34" charset="0"/>
              <a:buChar char="•"/>
            </a:pPr>
            <a:r>
              <a:rPr lang="en-US" sz="3000" dirty="0">
                <a:latin typeface="Aptos Display" panose="020B0004020202020204" pitchFamily="34" charset="0"/>
                <a:ea typeface="ADLaM Display" panose="02010000000000000000" pitchFamily="2" charset="0"/>
                <a:cs typeface="ADLaM Display" panose="02010000000000000000" pitchFamily="2" charset="0"/>
              </a:rPr>
              <a:t>Advantages &amp; Limitations</a:t>
            </a:r>
          </a:p>
          <a:p>
            <a:pPr marL="457200" indent="-457200">
              <a:buFont typeface="Arial" panose="020B0604020202020204" pitchFamily="34" charset="0"/>
              <a:buChar char="•"/>
            </a:pPr>
            <a:r>
              <a:rPr lang="en-US" sz="3000" dirty="0">
                <a:latin typeface="Aptos Display" panose="020B0004020202020204" pitchFamily="34" charset="0"/>
                <a:ea typeface="ADLaM Display" panose="02010000000000000000" pitchFamily="2" charset="0"/>
                <a:cs typeface="ADLaM Display" panose="02010000000000000000" pitchFamily="2" charset="0"/>
              </a:rPr>
              <a:t>Popular Frameworks</a:t>
            </a:r>
          </a:p>
          <a:p>
            <a:pPr marL="457200" indent="-457200">
              <a:buFont typeface="Arial" panose="020B0604020202020204" pitchFamily="34" charset="0"/>
              <a:buChar char="•"/>
            </a:pPr>
            <a:r>
              <a:rPr lang="en-US" sz="3000" dirty="0">
                <a:latin typeface="Aptos Display" panose="020B0004020202020204" pitchFamily="34" charset="0"/>
                <a:ea typeface="ADLaM Display" panose="02010000000000000000" pitchFamily="2" charset="0"/>
                <a:cs typeface="ADLaM Display" panose="02010000000000000000" pitchFamily="2" charset="0"/>
              </a:rPr>
              <a:t>Future of Neural Networks</a:t>
            </a:r>
          </a:p>
        </p:txBody>
      </p:sp>
    </p:spTree>
    <p:extLst>
      <p:ext uri="{BB962C8B-B14F-4D97-AF65-F5344CB8AC3E}">
        <p14:creationId xmlns:p14="http://schemas.microsoft.com/office/powerpoint/2010/main" val="3005305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BCCEF1-4E61-A492-E14C-21FE6B08C782}"/>
              </a:ext>
            </a:extLst>
          </p:cNvPr>
          <p:cNvSpPr txBox="1"/>
          <p:nvPr/>
        </p:nvSpPr>
        <p:spPr>
          <a:xfrm>
            <a:off x="981844" y="1988840"/>
            <a:ext cx="6408712" cy="3605662"/>
          </a:xfrm>
          <a:prstGeom prst="rect">
            <a:avLst/>
          </a:prstGeom>
        </p:spPr>
        <p:txBody>
          <a:bodyPr vert="horz" lIns="91416" tIns="45708" rIns="91416" bIns="45708" rtlCol="0" anchor="ctr">
            <a:noAutofit/>
          </a:bodyPr>
          <a:lstStyle/>
          <a:p>
            <a:pPr marL="514196" indent="-514196">
              <a:spcAft>
                <a:spcPts val="1000"/>
              </a:spcAft>
              <a:buClr>
                <a:schemeClr val="tx1"/>
              </a:buClr>
              <a:buSzPct val="100000"/>
              <a:buFont typeface="Arial" panose="020B0604020202020204" pitchFamily="34" charset="0"/>
              <a:buChar char="•"/>
            </a:pPr>
            <a:r>
              <a:rPr lang="en-US" sz="2799" dirty="0">
                <a:solidFill>
                  <a:schemeClr val="tx2"/>
                </a:solidFill>
                <a:ea typeface="ADLaM Display" panose="02010000000000000000" pitchFamily="2" charset="0"/>
                <a:cs typeface="ADLaM Display" panose="02010000000000000000" pitchFamily="2" charset="0"/>
              </a:rPr>
              <a:t>Neural Networks are powerful  computational models inspired by the complex structure of the human brain. They are designed to mimic how biological neurons process information.</a:t>
            </a:r>
          </a:p>
          <a:p>
            <a:pPr marL="514196" indent="-514196">
              <a:spcAft>
                <a:spcPts val="1000"/>
              </a:spcAft>
              <a:buClr>
                <a:schemeClr val="tx1"/>
              </a:buClr>
              <a:buSzPct val="100000"/>
              <a:buFont typeface="Arial" panose="020B0604020202020204" pitchFamily="34" charset="0"/>
              <a:buChar char="•"/>
            </a:pPr>
            <a:r>
              <a:rPr lang="en-US" sz="2799" dirty="0">
                <a:solidFill>
                  <a:schemeClr val="tx2"/>
                </a:solidFill>
                <a:ea typeface="ADLaM Display" panose="02010000000000000000" pitchFamily="2" charset="0"/>
                <a:cs typeface="ADLaM Display" panose="02010000000000000000" pitchFamily="2" charset="0"/>
              </a:rPr>
              <a:t>At their core, neural networks consist of interconnected "nodes" (artificial neurons) that work together to learn patterns and make decisions from data, forming the backbone of modern AI.</a:t>
            </a:r>
          </a:p>
        </p:txBody>
      </p:sp>
      <p:pic>
        <p:nvPicPr>
          <p:cNvPr id="5" name="Picture 4" descr="A black background with a black square&#10;&#10;AI-generated content may be incorrect.">
            <a:extLst>
              <a:ext uri="{FF2B5EF4-FFF2-40B4-BE49-F238E27FC236}">
                <a16:creationId xmlns:a16="http://schemas.microsoft.com/office/drawing/2014/main" id="{E16A8886-3584-55F4-2ECD-43AFFE40625C}"/>
              </a:ext>
            </a:extLst>
          </p:cNvPr>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534572" y="1412776"/>
            <a:ext cx="4307433" cy="4307433"/>
          </a:xfrm>
          <a:prstGeom prst="rect">
            <a:avLst/>
          </a:prstGeom>
        </p:spPr>
      </p:pic>
      <p:sp>
        <p:nvSpPr>
          <p:cNvPr id="8" name="Title 12">
            <a:extLst>
              <a:ext uri="{FF2B5EF4-FFF2-40B4-BE49-F238E27FC236}">
                <a16:creationId xmlns:a16="http://schemas.microsoft.com/office/drawing/2014/main" id="{74BC00D7-B49A-AFE4-46BE-895923D085A3}"/>
              </a:ext>
            </a:extLst>
          </p:cNvPr>
          <p:cNvSpPr txBox="1">
            <a:spLocks/>
          </p:cNvSpPr>
          <p:nvPr/>
        </p:nvSpPr>
        <p:spPr>
          <a:xfrm>
            <a:off x="1197868" y="455393"/>
            <a:ext cx="10360501" cy="788731"/>
          </a:xfrm>
          <a:prstGeom prst="rect">
            <a:avLst/>
          </a:prstGeom>
        </p:spPr>
        <p:txBody>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r>
              <a:rPr lang="en-US" sz="4000" b="1" dirty="0"/>
              <a:t>NEURAL NETWORKS</a:t>
            </a:r>
          </a:p>
        </p:txBody>
      </p:sp>
    </p:spTree>
    <p:extLst>
      <p:ext uri="{BB962C8B-B14F-4D97-AF65-F5344CB8AC3E}">
        <p14:creationId xmlns:p14="http://schemas.microsoft.com/office/powerpoint/2010/main" val="3783655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F0C7CA1F-DB12-04E8-2BEE-8BEBECE98375}"/>
              </a:ext>
            </a:extLst>
          </p:cNvPr>
          <p:cNvSpPr txBox="1">
            <a:spLocks/>
          </p:cNvSpPr>
          <p:nvPr/>
        </p:nvSpPr>
        <p:spPr>
          <a:xfrm>
            <a:off x="1208112" y="455393"/>
            <a:ext cx="10360501" cy="788731"/>
          </a:xfrm>
          <a:prstGeom prst="rect">
            <a:avLst/>
          </a:prstGeom>
        </p:spPr>
        <p:txBody>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r>
              <a:rPr lang="en-US" sz="4000" b="1" dirty="0"/>
              <a:t>HOW NEURAL NETWORKS WORK</a:t>
            </a:r>
          </a:p>
        </p:txBody>
      </p:sp>
      <p:sp>
        <p:nvSpPr>
          <p:cNvPr id="4" name="TextBox 3">
            <a:extLst>
              <a:ext uri="{FF2B5EF4-FFF2-40B4-BE49-F238E27FC236}">
                <a16:creationId xmlns:a16="http://schemas.microsoft.com/office/drawing/2014/main" id="{3AA7F7B6-1746-51DC-E656-80BB8C17CE4D}"/>
              </a:ext>
            </a:extLst>
          </p:cNvPr>
          <p:cNvSpPr txBox="1"/>
          <p:nvPr/>
        </p:nvSpPr>
        <p:spPr>
          <a:xfrm>
            <a:off x="864095" y="1244124"/>
            <a:ext cx="11278989" cy="3277820"/>
          </a:xfrm>
          <a:prstGeom prst="rect">
            <a:avLst/>
          </a:prstGeom>
          <a:noFill/>
        </p:spPr>
        <p:txBody>
          <a:bodyPr wrap="square" rtlCol="0">
            <a:spAutoFit/>
          </a:bodyPr>
          <a:lstStyle/>
          <a:p>
            <a:pPr marL="457200" indent="-457200">
              <a:buFont typeface="Arial" panose="020B0604020202020204" pitchFamily="34" charset="0"/>
              <a:buChar char="•"/>
            </a:pPr>
            <a:r>
              <a:rPr lang="en-US" sz="2300" dirty="0">
                <a:solidFill>
                  <a:schemeClr val="tx2"/>
                </a:solidFill>
                <a:ea typeface="ADLaM Display" panose="02010000000000000000" pitchFamily="2" charset="0"/>
                <a:cs typeface="ADLaM Display" panose="02010000000000000000" pitchFamily="2" charset="0"/>
              </a:rPr>
              <a:t>A neural network is organized into distinct layers: an </a:t>
            </a:r>
            <a:r>
              <a:rPr lang="en-US" sz="2300" b="1" dirty="0">
                <a:solidFill>
                  <a:schemeClr val="tx2"/>
                </a:solidFill>
                <a:ea typeface="ADLaM Display" panose="02010000000000000000" pitchFamily="2" charset="0"/>
                <a:cs typeface="ADLaM Display" panose="02010000000000000000" pitchFamily="2" charset="0"/>
              </a:rPr>
              <a:t>input layer</a:t>
            </a:r>
            <a:r>
              <a:rPr lang="en-US" sz="2300" dirty="0">
                <a:solidFill>
                  <a:schemeClr val="tx2"/>
                </a:solidFill>
                <a:ea typeface="ADLaM Display" panose="02010000000000000000" pitchFamily="2" charset="0"/>
                <a:cs typeface="ADLaM Display" panose="02010000000000000000" pitchFamily="2" charset="0"/>
              </a:rPr>
              <a:t> takes in the raw data, one or more </a:t>
            </a:r>
            <a:r>
              <a:rPr lang="en-US" sz="2300" b="1" dirty="0">
                <a:solidFill>
                  <a:schemeClr val="tx2"/>
                </a:solidFill>
                <a:ea typeface="ADLaM Display" panose="02010000000000000000" pitchFamily="2" charset="0"/>
                <a:cs typeface="ADLaM Display" panose="02010000000000000000" pitchFamily="2" charset="0"/>
              </a:rPr>
              <a:t>hidden layers</a:t>
            </a:r>
            <a:r>
              <a:rPr lang="en-US" sz="2300" dirty="0">
                <a:solidFill>
                  <a:schemeClr val="tx2"/>
                </a:solidFill>
                <a:ea typeface="ADLaM Display" panose="02010000000000000000" pitchFamily="2" charset="0"/>
                <a:cs typeface="ADLaM Display" panose="02010000000000000000" pitchFamily="2" charset="0"/>
              </a:rPr>
              <a:t> perform complex computations, and an </a:t>
            </a:r>
            <a:r>
              <a:rPr lang="en-US" sz="2300" b="1" dirty="0">
                <a:solidFill>
                  <a:schemeClr val="tx2"/>
                </a:solidFill>
                <a:ea typeface="ADLaM Display" panose="02010000000000000000" pitchFamily="2" charset="0"/>
                <a:cs typeface="ADLaM Display" panose="02010000000000000000" pitchFamily="2" charset="0"/>
              </a:rPr>
              <a:t>output layer</a:t>
            </a:r>
            <a:r>
              <a:rPr lang="en-US" sz="2300" dirty="0">
                <a:solidFill>
                  <a:schemeClr val="tx2"/>
                </a:solidFill>
                <a:ea typeface="ADLaM Display" panose="02010000000000000000" pitchFamily="2" charset="0"/>
                <a:cs typeface="ADLaM Display" panose="02010000000000000000" pitchFamily="2" charset="0"/>
              </a:rPr>
              <a:t> delivers the network's final prediction or classification.</a:t>
            </a:r>
          </a:p>
          <a:p>
            <a:pPr marL="457200" indent="-457200">
              <a:buFont typeface="Arial" panose="020B0604020202020204" pitchFamily="34" charset="0"/>
              <a:buChar char="•"/>
            </a:pPr>
            <a:r>
              <a:rPr lang="en-US" sz="2300" dirty="0">
                <a:solidFill>
                  <a:schemeClr val="tx2"/>
                </a:solidFill>
                <a:ea typeface="ADLaM Display" panose="02010000000000000000" pitchFamily="2" charset="0"/>
                <a:cs typeface="ADLaM Display" panose="02010000000000000000" pitchFamily="2" charset="0"/>
              </a:rPr>
              <a:t>Information flows unidirectionally through these layers. Each connection between neurons carries a </a:t>
            </a:r>
            <a:r>
              <a:rPr lang="en-US" sz="2300" b="1" dirty="0">
                <a:solidFill>
                  <a:schemeClr val="tx2"/>
                </a:solidFill>
                <a:ea typeface="ADLaM Display" panose="02010000000000000000" pitchFamily="2" charset="0"/>
                <a:cs typeface="ADLaM Display" panose="02010000000000000000" pitchFamily="2" charset="0"/>
              </a:rPr>
              <a:t>weight</a:t>
            </a:r>
            <a:r>
              <a:rPr lang="en-US" sz="2300" dirty="0">
                <a:solidFill>
                  <a:schemeClr val="tx2"/>
                </a:solidFill>
                <a:ea typeface="ADLaM Display" panose="02010000000000000000" pitchFamily="2" charset="0"/>
                <a:cs typeface="ADLaM Display" panose="02010000000000000000" pitchFamily="2" charset="0"/>
              </a:rPr>
              <a:t>, indicating its importance, and each neuron has a </a:t>
            </a:r>
            <a:r>
              <a:rPr lang="en-US" sz="2300" b="1" dirty="0">
                <a:solidFill>
                  <a:schemeClr val="tx2"/>
                </a:solidFill>
                <a:ea typeface="ADLaM Display" panose="02010000000000000000" pitchFamily="2" charset="0"/>
                <a:cs typeface="ADLaM Display" panose="02010000000000000000" pitchFamily="2" charset="0"/>
              </a:rPr>
              <a:t>bias</a:t>
            </a:r>
            <a:r>
              <a:rPr lang="en-US" sz="2300" dirty="0">
                <a:solidFill>
                  <a:schemeClr val="tx2"/>
                </a:solidFill>
                <a:ea typeface="ADLaM Display" panose="02010000000000000000" pitchFamily="2" charset="0"/>
                <a:cs typeface="ADLaM Display" panose="02010000000000000000" pitchFamily="2" charset="0"/>
              </a:rPr>
              <a:t>. These values are adjusted during training to refine the network's processing. Neurons aggregate their weighted inputs, and if this sum surpasses an activation threshold, they fire, transmitting a signal to the subsequent layer.</a:t>
            </a:r>
          </a:p>
          <a:p>
            <a:pPr marL="457200" indent="-457200">
              <a:buFont typeface="Arial" panose="020B0604020202020204" pitchFamily="34" charset="0"/>
              <a:buChar char="•"/>
            </a:pPr>
            <a:endParaRPr lang="en-AE" sz="2300" dirty="0">
              <a:solidFill>
                <a:schemeClr val="tx2"/>
              </a:solidFill>
            </a:endParaRPr>
          </a:p>
        </p:txBody>
      </p:sp>
      <p:pic>
        <p:nvPicPr>
          <p:cNvPr id="6" name="Picture 5" descr="A screenshot of a computer&#10;&#10;AI-generated content may be incorrect.">
            <a:extLst>
              <a:ext uri="{FF2B5EF4-FFF2-40B4-BE49-F238E27FC236}">
                <a16:creationId xmlns:a16="http://schemas.microsoft.com/office/drawing/2014/main" id="{85D9C8F4-B870-87E4-3876-6EF1F87A6FD9}"/>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125132" y="3861048"/>
            <a:ext cx="6526460" cy="3151611"/>
          </a:xfrm>
          <a:prstGeom prst="rect">
            <a:avLst/>
          </a:prstGeom>
        </p:spPr>
      </p:pic>
    </p:spTree>
    <p:extLst>
      <p:ext uri="{BB962C8B-B14F-4D97-AF65-F5344CB8AC3E}">
        <p14:creationId xmlns:p14="http://schemas.microsoft.com/office/powerpoint/2010/main" val="2288885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981844" y="1169045"/>
            <a:ext cx="11046916" cy="522152"/>
          </a:xfrm>
          <a:prstGeom prst="rect">
            <a:avLst/>
          </a:prstGeom>
          <a:noFill/>
          <a:ln/>
        </p:spPr>
        <p:txBody>
          <a:bodyPr wrap="square" lIns="0" tIns="0" rIns="0" bIns="0" rtlCol="0" anchor="t"/>
          <a:lstStyle/>
          <a:p>
            <a:pPr>
              <a:lnSpc>
                <a:spcPts val="2041"/>
              </a:lnSpc>
            </a:pPr>
            <a:r>
              <a:rPr lang="en-US" sz="2000" dirty="0">
                <a:solidFill>
                  <a:schemeClr val="tx2"/>
                </a:solidFill>
              </a:rPr>
              <a:t>Neural networks come in various architectures, each optimized for different types of tasks and data structures. Here are some of the most common:</a:t>
            </a:r>
          </a:p>
        </p:txBody>
      </p:sp>
      <p:sp>
        <p:nvSpPr>
          <p:cNvPr id="4" name="Shape 2"/>
          <p:cNvSpPr/>
          <p:nvPr/>
        </p:nvSpPr>
        <p:spPr>
          <a:xfrm>
            <a:off x="1110396" y="2132856"/>
            <a:ext cx="5031031" cy="2040885"/>
          </a:xfrm>
          <a:prstGeom prst="roundRect">
            <a:avLst>
              <a:gd name="adj" fmla="val 3221"/>
            </a:avLst>
          </a:prstGeom>
          <a:solidFill>
            <a:schemeClr val="bg1">
              <a:lumMod val="95000"/>
            </a:schemeClr>
          </a:solidFill>
          <a:ln w="7620">
            <a:solidFill>
              <a:srgbClr val="C0C1D7"/>
            </a:solidFill>
            <a:prstDash val="solid"/>
          </a:ln>
        </p:spPr>
        <p:txBody>
          <a:bodyPr/>
          <a:lstStyle/>
          <a:p>
            <a:endParaRPr lang="en-IN" sz="2399">
              <a:solidFill>
                <a:schemeClr val="tx2"/>
              </a:solidFill>
              <a:ea typeface="ADLaM Display" panose="02010000000000000000" pitchFamily="2" charset="0"/>
              <a:cs typeface="ADLaM Display" panose="02010000000000000000" pitchFamily="2" charset="0"/>
            </a:endParaRPr>
          </a:p>
        </p:txBody>
      </p:sp>
      <p:sp>
        <p:nvSpPr>
          <p:cNvPr id="5" name="Shape 3"/>
          <p:cNvSpPr/>
          <p:nvPr/>
        </p:nvSpPr>
        <p:spPr>
          <a:xfrm>
            <a:off x="1279816" y="2235824"/>
            <a:ext cx="452373" cy="469466"/>
          </a:xfrm>
          <a:prstGeom prst="roundRect">
            <a:avLst>
              <a:gd name="adj" fmla="val 15567071"/>
            </a:avLst>
          </a:prstGeom>
          <a:solidFill>
            <a:schemeClr val="tx2"/>
          </a:solidFill>
          <a:ln/>
        </p:spPr>
        <p:txBody>
          <a:bodyPr/>
          <a:lstStyle/>
          <a:p>
            <a:endParaRPr lang="en-IN" sz="2399">
              <a:solidFill>
                <a:schemeClr val="tx2"/>
              </a:solidFill>
              <a:ea typeface="ADLaM Display" panose="02010000000000000000" pitchFamily="2" charset="0"/>
              <a:cs typeface="ADLaM Display" panose="02010000000000000000" pitchFamily="2" charset="0"/>
            </a:endParaRPr>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14322" y="2359411"/>
            <a:ext cx="211274" cy="211274"/>
          </a:xfrm>
          <a:prstGeom prst="rect">
            <a:avLst/>
          </a:prstGeom>
        </p:spPr>
      </p:pic>
      <p:sp>
        <p:nvSpPr>
          <p:cNvPr id="7" name="Text 4"/>
          <p:cNvSpPr/>
          <p:nvPr/>
        </p:nvSpPr>
        <p:spPr>
          <a:xfrm>
            <a:off x="1279817" y="2878707"/>
            <a:ext cx="3460519" cy="244584"/>
          </a:xfrm>
          <a:prstGeom prst="rect">
            <a:avLst/>
          </a:prstGeom>
          <a:noFill/>
          <a:ln/>
        </p:spPr>
        <p:txBody>
          <a:bodyPr wrap="none" lIns="0" tIns="0" rIns="0" bIns="0" rtlCol="0" anchor="t"/>
          <a:lstStyle/>
          <a:p>
            <a:pPr>
              <a:lnSpc>
                <a:spcPts val="1999"/>
              </a:lnSpc>
            </a:pPr>
            <a:r>
              <a:rPr lang="en-US" sz="1583" b="1" dirty="0">
                <a:solidFill>
                  <a:schemeClr val="tx2"/>
                </a:solidFill>
                <a:ea typeface="ADLaM Display" panose="02010000000000000000" pitchFamily="2" charset="0"/>
                <a:cs typeface="ADLaM Display" panose="02010000000000000000" pitchFamily="2" charset="0"/>
              </a:rPr>
              <a:t>Feedforward Neural Networks (FNNs)</a:t>
            </a:r>
            <a:endParaRPr lang="en-US" sz="1583" dirty="0">
              <a:solidFill>
                <a:schemeClr val="tx2"/>
              </a:solidFill>
              <a:ea typeface="ADLaM Display" panose="02010000000000000000" pitchFamily="2" charset="0"/>
              <a:cs typeface="ADLaM Display" panose="02010000000000000000" pitchFamily="2" charset="0"/>
            </a:endParaRPr>
          </a:p>
        </p:txBody>
      </p:sp>
      <p:sp>
        <p:nvSpPr>
          <p:cNvPr id="8" name="Text 5"/>
          <p:cNvSpPr/>
          <p:nvPr/>
        </p:nvSpPr>
        <p:spPr>
          <a:xfrm>
            <a:off x="1279816" y="3252871"/>
            <a:ext cx="4717773" cy="751450"/>
          </a:xfrm>
          <a:prstGeom prst="rect">
            <a:avLst/>
          </a:prstGeom>
          <a:noFill/>
          <a:ln/>
        </p:spPr>
        <p:txBody>
          <a:bodyPr wrap="square" lIns="0" tIns="0" rIns="0" bIns="0" rtlCol="0" anchor="t"/>
          <a:lstStyle/>
          <a:p>
            <a:pPr>
              <a:lnSpc>
                <a:spcPts val="2041"/>
              </a:lnSpc>
            </a:pPr>
            <a:r>
              <a:rPr lang="en-US" sz="1250" dirty="0">
                <a:solidFill>
                  <a:schemeClr val="tx2"/>
                </a:solidFill>
                <a:ea typeface="ADLaM Display" panose="02010000000000000000" pitchFamily="2" charset="0"/>
                <a:cs typeface="ADLaM Display" panose="02010000000000000000" pitchFamily="2" charset="0"/>
              </a:rPr>
              <a:t>The simplest type, information flows in one direction from input to output, without cycles. Used for classification and regression tasks.</a:t>
            </a:r>
          </a:p>
        </p:txBody>
      </p:sp>
      <p:sp>
        <p:nvSpPr>
          <p:cNvPr id="9" name="Shape 6"/>
          <p:cNvSpPr/>
          <p:nvPr/>
        </p:nvSpPr>
        <p:spPr>
          <a:xfrm>
            <a:off x="6715389" y="2132856"/>
            <a:ext cx="5031031" cy="2040885"/>
          </a:xfrm>
          <a:prstGeom prst="roundRect">
            <a:avLst>
              <a:gd name="adj" fmla="val 3221"/>
            </a:avLst>
          </a:prstGeom>
          <a:solidFill>
            <a:schemeClr val="bg1">
              <a:lumMod val="95000"/>
            </a:schemeClr>
          </a:solidFill>
          <a:ln w="7620">
            <a:solidFill>
              <a:srgbClr val="C0C1D7"/>
            </a:solidFill>
            <a:prstDash val="solid"/>
          </a:ln>
        </p:spPr>
        <p:txBody>
          <a:bodyPr/>
          <a:lstStyle/>
          <a:p>
            <a:endParaRPr lang="en-IN" sz="2399">
              <a:solidFill>
                <a:schemeClr val="tx2"/>
              </a:solidFill>
              <a:ea typeface="ADLaM Display" panose="02010000000000000000" pitchFamily="2" charset="0"/>
              <a:cs typeface="ADLaM Display" panose="02010000000000000000" pitchFamily="2" charset="0"/>
            </a:endParaRPr>
          </a:p>
        </p:txBody>
      </p:sp>
      <p:sp>
        <p:nvSpPr>
          <p:cNvPr id="10" name="Shape 7"/>
          <p:cNvSpPr/>
          <p:nvPr/>
        </p:nvSpPr>
        <p:spPr>
          <a:xfrm>
            <a:off x="6884810" y="2243265"/>
            <a:ext cx="452373" cy="469466"/>
          </a:xfrm>
          <a:prstGeom prst="roundRect">
            <a:avLst>
              <a:gd name="adj" fmla="val 15567071"/>
            </a:avLst>
          </a:prstGeom>
          <a:solidFill>
            <a:schemeClr val="tx2"/>
          </a:solidFill>
          <a:ln/>
        </p:spPr>
        <p:txBody>
          <a:bodyPr/>
          <a:lstStyle/>
          <a:p>
            <a:endParaRPr lang="en-IN" sz="2399">
              <a:solidFill>
                <a:schemeClr val="tx2"/>
              </a:solidFill>
              <a:ea typeface="ADLaM Display" panose="02010000000000000000" pitchFamily="2" charset="0"/>
              <a:cs typeface="ADLaM Display" panose="02010000000000000000" pitchFamily="2" charset="0"/>
            </a:endParaRPr>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05359" y="2359411"/>
            <a:ext cx="211274" cy="211274"/>
          </a:xfrm>
          <a:prstGeom prst="rect">
            <a:avLst/>
          </a:prstGeom>
        </p:spPr>
      </p:pic>
      <p:sp>
        <p:nvSpPr>
          <p:cNvPr id="12" name="Text 8"/>
          <p:cNvSpPr/>
          <p:nvPr/>
        </p:nvSpPr>
        <p:spPr>
          <a:xfrm>
            <a:off x="6884812" y="2878707"/>
            <a:ext cx="3588630" cy="244584"/>
          </a:xfrm>
          <a:prstGeom prst="rect">
            <a:avLst/>
          </a:prstGeom>
          <a:noFill/>
          <a:ln/>
        </p:spPr>
        <p:txBody>
          <a:bodyPr wrap="none" lIns="0" tIns="0" rIns="0" bIns="0" rtlCol="0" anchor="t"/>
          <a:lstStyle/>
          <a:p>
            <a:pPr>
              <a:lnSpc>
                <a:spcPts val="1999"/>
              </a:lnSpc>
            </a:pPr>
            <a:r>
              <a:rPr lang="en-US" sz="1583" b="1" dirty="0">
                <a:solidFill>
                  <a:schemeClr val="tx2"/>
                </a:solidFill>
                <a:ea typeface="ADLaM Display" panose="02010000000000000000" pitchFamily="2" charset="0"/>
                <a:cs typeface="ADLaM Display" panose="02010000000000000000" pitchFamily="2" charset="0"/>
              </a:rPr>
              <a:t>Convolutional Neural Networks (CNNs)</a:t>
            </a:r>
            <a:endParaRPr lang="en-US" sz="1583" dirty="0">
              <a:solidFill>
                <a:schemeClr val="tx2"/>
              </a:solidFill>
              <a:ea typeface="ADLaM Display" panose="02010000000000000000" pitchFamily="2" charset="0"/>
              <a:cs typeface="ADLaM Display" panose="02010000000000000000" pitchFamily="2" charset="0"/>
            </a:endParaRPr>
          </a:p>
        </p:txBody>
      </p:sp>
      <p:sp>
        <p:nvSpPr>
          <p:cNvPr id="13" name="Text 9"/>
          <p:cNvSpPr/>
          <p:nvPr/>
        </p:nvSpPr>
        <p:spPr>
          <a:xfrm>
            <a:off x="6884810" y="3252871"/>
            <a:ext cx="4717773" cy="751450"/>
          </a:xfrm>
          <a:prstGeom prst="rect">
            <a:avLst/>
          </a:prstGeom>
          <a:noFill/>
          <a:ln/>
        </p:spPr>
        <p:txBody>
          <a:bodyPr wrap="square" lIns="0" tIns="0" rIns="0" bIns="0" rtlCol="0" anchor="t"/>
          <a:lstStyle/>
          <a:p>
            <a:pPr>
              <a:lnSpc>
                <a:spcPts val="2041"/>
              </a:lnSpc>
            </a:pPr>
            <a:r>
              <a:rPr lang="en-US" sz="1250" dirty="0">
                <a:solidFill>
                  <a:schemeClr val="tx2"/>
                </a:solidFill>
                <a:ea typeface="ADLaM Display" panose="02010000000000000000" pitchFamily="2" charset="0"/>
                <a:cs typeface="ADLaM Display" panose="02010000000000000000" pitchFamily="2" charset="0"/>
              </a:rPr>
              <a:t>Specialized for processing grid-like data such as images. They use convolutional layers to automatically and adaptively learn spatial hierarchies of features.</a:t>
            </a:r>
          </a:p>
        </p:txBody>
      </p:sp>
      <p:sp>
        <p:nvSpPr>
          <p:cNvPr id="14" name="Shape 10"/>
          <p:cNvSpPr/>
          <p:nvPr/>
        </p:nvSpPr>
        <p:spPr>
          <a:xfrm>
            <a:off x="1110396" y="4423121"/>
            <a:ext cx="5031031" cy="2040885"/>
          </a:xfrm>
          <a:prstGeom prst="roundRect">
            <a:avLst>
              <a:gd name="adj" fmla="val 3221"/>
            </a:avLst>
          </a:prstGeom>
          <a:solidFill>
            <a:schemeClr val="bg1">
              <a:lumMod val="95000"/>
            </a:schemeClr>
          </a:solidFill>
          <a:ln w="7620">
            <a:solidFill>
              <a:srgbClr val="C0C1D7"/>
            </a:solidFill>
            <a:prstDash val="solid"/>
          </a:ln>
        </p:spPr>
        <p:txBody>
          <a:bodyPr/>
          <a:lstStyle/>
          <a:p>
            <a:endParaRPr lang="en-IN" sz="2399">
              <a:solidFill>
                <a:schemeClr val="tx2"/>
              </a:solidFill>
              <a:ea typeface="ADLaM Display" panose="02010000000000000000" pitchFamily="2" charset="0"/>
              <a:cs typeface="ADLaM Display" panose="02010000000000000000" pitchFamily="2" charset="0"/>
            </a:endParaRPr>
          </a:p>
        </p:txBody>
      </p:sp>
      <p:sp>
        <p:nvSpPr>
          <p:cNvPr id="15" name="Shape 11"/>
          <p:cNvSpPr/>
          <p:nvPr/>
        </p:nvSpPr>
        <p:spPr>
          <a:xfrm>
            <a:off x="1279816" y="4526090"/>
            <a:ext cx="452373" cy="469466"/>
          </a:xfrm>
          <a:prstGeom prst="roundRect">
            <a:avLst>
              <a:gd name="adj" fmla="val 15567071"/>
            </a:avLst>
          </a:prstGeom>
          <a:solidFill>
            <a:schemeClr val="tx2"/>
          </a:solidFill>
          <a:ln/>
        </p:spPr>
        <p:txBody>
          <a:bodyPr/>
          <a:lstStyle/>
          <a:p>
            <a:endParaRPr lang="en-IN" sz="2399">
              <a:solidFill>
                <a:schemeClr val="tx2"/>
              </a:solidFill>
              <a:ea typeface="ADLaM Display" panose="02010000000000000000" pitchFamily="2" charset="0"/>
              <a:cs typeface="ADLaM Display" panose="02010000000000000000" pitchFamily="2" charset="0"/>
            </a:endParaRPr>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14322" y="4649678"/>
            <a:ext cx="211274" cy="211274"/>
          </a:xfrm>
          <a:prstGeom prst="rect">
            <a:avLst/>
          </a:prstGeom>
        </p:spPr>
      </p:pic>
      <p:sp>
        <p:nvSpPr>
          <p:cNvPr id="17" name="Text 12"/>
          <p:cNvSpPr/>
          <p:nvPr/>
        </p:nvSpPr>
        <p:spPr>
          <a:xfrm>
            <a:off x="1279818" y="5168971"/>
            <a:ext cx="3211086" cy="244584"/>
          </a:xfrm>
          <a:prstGeom prst="rect">
            <a:avLst/>
          </a:prstGeom>
          <a:noFill/>
          <a:ln/>
        </p:spPr>
        <p:txBody>
          <a:bodyPr wrap="none" lIns="0" tIns="0" rIns="0" bIns="0" rtlCol="0" anchor="t"/>
          <a:lstStyle/>
          <a:p>
            <a:pPr>
              <a:lnSpc>
                <a:spcPts val="1999"/>
              </a:lnSpc>
            </a:pPr>
            <a:r>
              <a:rPr lang="en-US" sz="1583" b="1" dirty="0">
                <a:solidFill>
                  <a:schemeClr val="tx2"/>
                </a:solidFill>
                <a:ea typeface="ADLaM Display" panose="02010000000000000000" pitchFamily="2" charset="0"/>
                <a:cs typeface="ADLaM Display" panose="02010000000000000000" pitchFamily="2" charset="0"/>
              </a:rPr>
              <a:t>Recurrent Neural Networks (RNNs)</a:t>
            </a:r>
            <a:endParaRPr lang="en-US" sz="1583" dirty="0">
              <a:solidFill>
                <a:schemeClr val="tx2"/>
              </a:solidFill>
              <a:ea typeface="ADLaM Display" panose="02010000000000000000" pitchFamily="2" charset="0"/>
              <a:cs typeface="ADLaM Display" panose="02010000000000000000" pitchFamily="2" charset="0"/>
            </a:endParaRPr>
          </a:p>
        </p:txBody>
      </p:sp>
      <p:sp>
        <p:nvSpPr>
          <p:cNvPr id="18" name="Text 13"/>
          <p:cNvSpPr/>
          <p:nvPr/>
        </p:nvSpPr>
        <p:spPr>
          <a:xfrm>
            <a:off x="1279816" y="5543136"/>
            <a:ext cx="4717773" cy="751450"/>
          </a:xfrm>
          <a:prstGeom prst="rect">
            <a:avLst/>
          </a:prstGeom>
          <a:noFill/>
          <a:ln/>
        </p:spPr>
        <p:txBody>
          <a:bodyPr wrap="square" lIns="0" tIns="0" rIns="0" bIns="0" rtlCol="0" anchor="t"/>
          <a:lstStyle/>
          <a:p>
            <a:pPr>
              <a:lnSpc>
                <a:spcPts val="2041"/>
              </a:lnSpc>
            </a:pPr>
            <a:r>
              <a:rPr lang="en-US" sz="1250" dirty="0">
                <a:solidFill>
                  <a:schemeClr val="tx2"/>
                </a:solidFill>
                <a:ea typeface="ADLaM Display" panose="02010000000000000000" pitchFamily="2" charset="0"/>
                <a:cs typeface="ADLaM Display" panose="02010000000000000000" pitchFamily="2" charset="0"/>
              </a:rPr>
              <a:t>Designed to handle sequential data, like time series or natural language. They have internal memory, allowing them to use previous outputs as inputs.</a:t>
            </a:r>
          </a:p>
        </p:txBody>
      </p:sp>
      <p:sp>
        <p:nvSpPr>
          <p:cNvPr id="19" name="Shape 14"/>
          <p:cNvSpPr/>
          <p:nvPr/>
        </p:nvSpPr>
        <p:spPr>
          <a:xfrm>
            <a:off x="6715389" y="4423121"/>
            <a:ext cx="5031031" cy="2040885"/>
          </a:xfrm>
          <a:prstGeom prst="roundRect">
            <a:avLst>
              <a:gd name="adj" fmla="val 3221"/>
            </a:avLst>
          </a:prstGeom>
          <a:solidFill>
            <a:schemeClr val="bg1">
              <a:lumMod val="95000"/>
            </a:schemeClr>
          </a:solidFill>
          <a:ln w="7620">
            <a:solidFill>
              <a:srgbClr val="C0C1D7"/>
            </a:solidFill>
            <a:prstDash val="solid"/>
          </a:ln>
        </p:spPr>
        <p:txBody>
          <a:bodyPr/>
          <a:lstStyle/>
          <a:p>
            <a:endParaRPr lang="en-IN" sz="2399">
              <a:solidFill>
                <a:schemeClr val="tx2"/>
              </a:solidFill>
              <a:ea typeface="ADLaM Display" panose="02010000000000000000" pitchFamily="2" charset="0"/>
              <a:cs typeface="ADLaM Display" panose="02010000000000000000" pitchFamily="2" charset="0"/>
            </a:endParaRPr>
          </a:p>
        </p:txBody>
      </p:sp>
      <p:sp>
        <p:nvSpPr>
          <p:cNvPr id="20" name="Shape 15"/>
          <p:cNvSpPr/>
          <p:nvPr/>
        </p:nvSpPr>
        <p:spPr>
          <a:xfrm>
            <a:off x="6884810" y="4526090"/>
            <a:ext cx="452373" cy="469466"/>
          </a:xfrm>
          <a:prstGeom prst="roundRect">
            <a:avLst>
              <a:gd name="adj" fmla="val 15567071"/>
            </a:avLst>
          </a:prstGeom>
          <a:solidFill>
            <a:schemeClr val="tx2"/>
          </a:solidFill>
          <a:ln/>
        </p:spPr>
        <p:txBody>
          <a:bodyPr/>
          <a:lstStyle/>
          <a:p>
            <a:endParaRPr lang="en-IN" sz="2399">
              <a:solidFill>
                <a:schemeClr val="tx2"/>
              </a:solidFill>
              <a:ea typeface="ADLaM Display" panose="02010000000000000000" pitchFamily="2" charset="0"/>
              <a:cs typeface="ADLaM Display" panose="02010000000000000000" pitchFamily="2" charset="0"/>
            </a:endParaRPr>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19317" y="4649678"/>
            <a:ext cx="211274" cy="211274"/>
          </a:xfrm>
          <a:prstGeom prst="rect">
            <a:avLst/>
          </a:prstGeom>
        </p:spPr>
      </p:pic>
      <p:sp>
        <p:nvSpPr>
          <p:cNvPr id="22" name="Text 16"/>
          <p:cNvSpPr/>
          <p:nvPr/>
        </p:nvSpPr>
        <p:spPr>
          <a:xfrm>
            <a:off x="6884811" y="5168971"/>
            <a:ext cx="3191645" cy="244584"/>
          </a:xfrm>
          <a:prstGeom prst="rect">
            <a:avLst/>
          </a:prstGeom>
          <a:noFill/>
          <a:ln/>
        </p:spPr>
        <p:txBody>
          <a:bodyPr wrap="none" lIns="0" tIns="0" rIns="0" bIns="0" rtlCol="0" anchor="t"/>
          <a:lstStyle/>
          <a:p>
            <a:pPr>
              <a:lnSpc>
                <a:spcPts val="1999"/>
              </a:lnSpc>
            </a:pPr>
            <a:r>
              <a:rPr lang="en-US" sz="1583" b="1" dirty="0">
                <a:solidFill>
                  <a:schemeClr val="tx2"/>
                </a:solidFill>
                <a:ea typeface="ADLaM Display" panose="02010000000000000000" pitchFamily="2" charset="0"/>
                <a:cs typeface="ADLaM Display" panose="02010000000000000000" pitchFamily="2" charset="0"/>
              </a:rPr>
              <a:t>Long Short-Term Memory (LSTMs)</a:t>
            </a:r>
            <a:endParaRPr lang="en-US" sz="1583" dirty="0">
              <a:solidFill>
                <a:schemeClr val="tx2"/>
              </a:solidFill>
              <a:ea typeface="ADLaM Display" panose="02010000000000000000" pitchFamily="2" charset="0"/>
              <a:cs typeface="ADLaM Display" panose="02010000000000000000" pitchFamily="2" charset="0"/>
            </a:endParaRPr>
          </a:p>
        </p:txBody>
      </p:sp>
      <p:sp>
        <p:nvSpPr>
          <p:cNvPr id="23" name="Text 17"/>
          <p:cNvSpPr/>
          <p:nvPr/>
        </p:nvSpPr>
        <p:spPr>
          <a:xfrm>
            <a:off x="6884810" y="5543136"/>
            <a:ext cx="4717773" cy="751450"/>
          </a:xfrm>
          <a:prstGeom prst="rect">
            <a:avLst/>
          </a:prstGeom>
          <a:noFill/>
          <a:ln/>
        </p:spPr>
        <p:txBody>
          <a:bodyPr wrap="square" lIns="0" tIns="0" rIns="0" bIns="0" rtlCol="0" anchor="t"/>
          <a:lstStyle/>
          <a:p>
            <a:pPr>
              <a:lnSpc>
                <a:spcPts val="2041"/>
              </a:lnSpc>
            </a:pPr>
            <a:r>
              <a:rPr lang="en-US" sz="1250" dirty="0">
                <a:solidFill>
                  <a:schemeClr val="tx2"/>
                </a:solidFill>
                <a:ea typeface="ADLaM Display" panose="02010000000000000000" pitchFamily="2" charset="0"/>
                <a:cs typeface="ADLaM Display" panose="02010000000000000000" pitchFamily="2" charset="0"/>
              </a:rPr>
              <a:t>A type of RNN capable of learning long-term dependencies. They address the vanishing gradient problem in traditional RNNs, making them ideal for complex sequences.</a:t>
            </a:r>
          </a:p>
        </p:txBody>
      </p:sp>
      <p:sp>
        <p:nvSpPr>
          <p:cNvPr id="24" name="Title 12">
            <a:extLst>
              <a:ext uri="{FF2B5EF4-FFF2-40B4-BE49-F238E27FC236}">
                <a16:creationId xmlns:a16="http://schemas.microsoft.com/office/drawing/2014/main" id="{D714FFFD-206D-91C0-1773-11AEFBD19CE8}"/>
              </a:ext>
            </a:extLst>
          </p:cNvPr>
          <p:cNvSpPr txBox="1">
            <a:spLocks/>
          </p:cNvSpPr>
          <p:nvPr/>
        </p:nvSpPr>
        <p:spPr>
          <a:xfrm>
            <a:off x="1095090" y="332656"/>
            <a:ext cx="10360501" cy="788731"/>
          </a:xfrm>
          <a:prstGeom prst="rect">
            <a:avLst/>
          </a:prstGeom>
        </p:spPr>
        <p:txBody>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r>
              <a:rPr lang="en-US" sz="4000" b="1" dirty="0"/>
              <a:t>TYPES OF NEURAL NETWORKS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8005D6-EA60-2430-E1A5-DCFDB011D4A9}"/>
              </a:ext>
            </a:extLst>
          </p:cNvPr>
          <p:cNvSpPr txBox="1"/>
          <p:nvPr/>
        </p:nvSpPr>
        <p:spPr>
          <a:xfrm>
            <a:off x="981844" y="951570"/>
            <a:ext cx="10883602" cy="923330"/>
          </a:xfrm>
          <a:prstGeom prst="rect">
            <a:avLst/>
          </a:prstGeom>
          <a:noFill/>
        </p:spPr>
        <p:txBody>
          <a:bodyPr wrap="square">
            <a:spAutoFit/>
          </a:bodyPr>
          <a:lstStyle/>
          <a:p>
            <a:pPr>
              <a:buNone/>
            </a:pPr>
            <a:endParaRPr lang="en-US" sz="1800" b="1" dirty="0">
              <a:latin typeface="ADLaM Display" panose="02010000000000000000" pitchFamily="2" charset="0"/>
              <a:ea typeface="ADLaM Display" panose="02010000000000000000" pitchFamily="2" charset="0"/>
              <a:cs typeface="ADLaM Display" panose="02010000000000000000" pitchFamily="2" charset="0"/>
            </a:endParaRPr>
          </a:p>
          <a:p>
            <a:r>
              <a:rPr lang="en-US" sz="1800" dirty="0">
                <a:ea typeface="ADLaM Display" panose="02010000000000000000" pitchFamily="2" charset="0"/>
                <a:cs typeface="ADLaM Display" panose="02010000000000000000" pitchFamily="2" charset="0"/>
              </a:rPr>
              <a:t>Training a neural network is an iterative process where the network learns from data by continuously adjusting its internal parameters. This cycle involves several key steps:</a:t>
            </a:r>
          </a:p>
        </p:txBody>
      </p:sp>
      <p:sp>
        <p:nvSpPr>
          <p:cNvPr id="2" name="Title 12">
            <a:extLst>
              <a:ext uri="{FF2B5EF4-FFF2-40B4-BE49-F238E27FC236}">
                <a16:creationId xmlns:a16="http://schemas.microsoft.com/office/drawing/2014/main" id="{0CD361BC-8273-3210-CA02-8FC8F852C4FF}"/>
              </a:ext>
            </a:extLst>
          </p:cNvPr>
          <p:cNvSpPr txBox="1">
            <a:spLocks/>
          </p:cNvSpPr>
          <p:nvPr/>
        </p:nvSpPr>
        <p:spPr>
          <a:xfrm>
            <a:off x="1208112" y="408021"/>
            <a:ext cx="10360501" cy="788731"/>
          </a:xfrm>
          <a:prstGeom prst="rect">
            <a:avLst/>
          </a:prstGeom>
        </p:spPr>
        <p:txBody>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r>
              <a:rPr lang="en-US" sz="4000" b="1" dirty="0"/>
              <a:t>TRAINING PROCCESS</a:t>
            </a:r>
          </a:p>
        </p:txBody>
      </p:sp>
      <p:sp>
        <p:nvSpPr>
          <p:cNvPr id="4" name="TextBox 3">
            <a:extLst>
              <a:ext uri="{FF2B5EF4-FFF2-40B4-BE49-F238E27FC236}">
                <a16:creationId xmlns:a16="http://schemas.microsoft.com/office/drawing/2014/main" id="{439F8B43-7837-418C-0D75-4E7303107B56}"/>
              </a:ext>
            </a:extLst>
          </p:cNvPr>
          <p:cNvSpPr txBox="1"/>
          <p:nvPr/>
        </p:nvSpPr>
        <p:spPr>
          <a:xfrm>
            <a:off x="981844" y="2060848"/>
            <a:ext cx="6347098" cy="4708981"/>
          </a:xfrm>
          <a:prstGeom prst="rect">
            <a:avLst/>
          </a:prstGeom>
          <a:noFill/>
        </p:spPr>
        <p:txBody>
          <a:bodyPr wrap="square" rtlCol="0">
            <a:spAutoFit/>
          </a:bodyPr>
          <a:lstStyle/>
          <a:p>
            <a:pPr marL="342900" indent="-342900">
              <a:buFont typeface="Wingdings" panose="05000000000000000000" pitchFamily="2" charset="2"/>
              <a:buChar char="§"/>
            </a:pPr>
            <a:r>
              <a:rPr lang="en-US" sz="2000" b="1" dirty="0">
                <a:ea typeface="ADLaM Display" panose="02010000000000000000" pitchFamily="2" charset="0"/>
                <a:cs typeface="ADLaM Display" panose="02010000000000000000" pitchFamily="2" charset="0"/>
              </a:rPr>
              <a:t>Backpropagation</a:t>
            </a:r>
          </a:p>
          <a:p>
            <a:pPr marL="952393" lvl="1" indent="-342900">
              <a:buFont typeface="Arial" panose="020B0604020202020204" pitchFamily="34" charset="0"/>
              <a:buChar char="•"/>
            </a:pPr>
            <a:r>
              <a:rPr lang="en-US" sz="2000" dirty="0">
                <a:ea typeface="ADLaM Display" panose="02010000000000000000" pitchFamily="2" charset="0"/>
                <a:cs typeface="ADLaM Display" panose="02010000000000000000" pitchFamily="2" charset="0"/>
              </a:rPr>
              <a:t>The calculated loss is propagated backward through the network to determine how much each weight contributed to the error.</a:t>
            </a:r>
          </a:p>
          <a:p>
            <a:pPr marL="342900" indent="-342900">
              <a:buFont typeface="Wingdings" panose="05000000000000000000" pitchFamily="2" charset="2"/>
              <a:buChar char="§"/>
            </a:pPr>
            <a:endParaRPr lang="en-US" sz="2000" b="1" dirty="0">
              <a:ea typeface="ADLaM Display" panose="02010000000000000000" pitchFamily="2" charset="0"/>
              <a:cs typeface="ADLaM Display" panose="02010000000000000000" pitchFamily="2" charset="0"/>
            </a:endParaRPr>
          </a:p>
          <a:p>
            <a:pPr marL="342900" indent="-342900">
              <a:buFont typeface="Wingdings" panose="05000000000000000000" pitchFamily="2" charset="2"/>
              <a:buChar char="§"/>
            </a:pPr>
            <a:r>
              <a:rPr lang="en-US" sz="2000" b="1" dirty="0">
                <a:ea typeface="ADLaM Display" panose="02010000000000000000" pitchFamily="2" charset="0"/>
                <a:cs typeface="ADLaM Display" panose="02010000000000000000" pitchFamily="2" charset="0"/>
              </a:rPr>
              <a:t>Gradient Descent</a:t>
            </a:r>
          </a:p>
          <a:p>
            <a:pPr marL="952393" lvl="1" indent="-342900">
              <a:buFont typeface="Arial" panose="020B0604020202020204" pitchFamily="34" charset="0"/>
              <a:buChar char="•"/>
            </a:pPr>
            <a:r>
              <a:rPr lang="en-US" sz="2000" dirty="0">
                <a:ea typeface="ADLaM Display" panose="02010000000000000000" pitchFamily="2" charset="0"/>
                <a:cs typeface="ADLaM Display" panose="02010000000000000000" pitchFamily="2" charset="0"/>
              </a:rPr>
              <a:t>Weights and biases are adjusted in the direction that minimizes the loss, effectively teaching the network to make better predictions.</a:t>
            </a:r>
          </a:p>
          <a:p>
            <a:pPr marL="952393" lvl="1" indent="-342900">
              <a:buFont typeface="Arial" panose="020B0604020202020204" pitchFamily="34" charset="0"/>
              <a:buChar char="•"/>
            </a:pPr>
            <a:r>
              <a:rPr lang="en-US" sz="2000" dirty="0">
                <a:ea typeface="ADLaM Display" panose="02010000000000000000" pitchFamily="2" charset="0"/>
                <a:cs typeface="ADLaM Display" panose="02010000000000000000" pitchFamily="2" charset="0"/>
              </a:rPr>
              <a:t>Through many repetitions of this cycle with large datasets, the neural network refines its internal parameters, enabling it to learn complex patterns and perform tasks like classification or prediction with high accuracy.</a:t>
            </a:r>
          </a:p>
          <a:p>
            <a:endParaRPr lang="en-AE" sz="2000" dirty="0"/>
          </a:p>
        </p:txBody>
      </p:sp>
      <p:sp>
        <p:nvSpPr>
          <p:cNvPr id="5" name="TextBox 4">
            <a:extLst>
              <a:ext uri="{FF2B5EF4-FFF2-40B4-BE49-F238E27FC236}">
                <a16:creationId xmlns:a16="http://schemas.microsoft.com/office/drawing/2014/main" id="{9E74BB32-FE6F-1C0B-C85A-F80E15A2644A}"/>
              </a:ext>
            </a:extLst>
          </p:cNvPr>
          <p:cNvSpPr txBox="1"/>
          <p:nvPr/>
        </p:nvSpPr>
        <p:spPr>
          <a:xfrm>
            <a:off x="7328942" y="2060848"/>
            <a:ext cx="4536504" cy="3599703"/>
          </a:xfrm>
          <a:prstGeom prst="rect">
            <a:avLst/>
          </a:prstGeom>
          <a:noFill/>
        </p:spPr>
        <p:txBody>
          <a:bodyPr wrap="square" rtlCol="0">
            <a:spAutoFit/>
          </a:bodyPr>
          <a:lstStyle/>
          <a:p>
            <a:pPr marL="342900" indent="-342900">
              <a:buFont typeface="Wingdings" panose="05000000000000000000" pitchFamily="2" charset="2"/>
              <a:buChar char="§"/>
            </a:pPr>
            <a:r>
              <a:rPr lang="en-US" sz="1999" b="1" dirty="0">
                <a:ea typeface="ADLaM Display" panose="02010000000000000000" pitchFamily="2" charset="0"/>
                <a:cs typeface="ADLaM Display" panose="02010000000000000000" pitchFamily="2" charset="0"/>
              </a:rPr>
              <a:t>Forward Propagation</a:t>
            </a:r>
          </a:p>
          <a:p>
            <a:pPr marL="952393" lvl="1" indent="-342900">
              <a:buFont typeface="Arial" panose="020B0604020202020204" pitchFamily="34" charset="0"/>
              <a:buChar char="•"/>
            </a:pPr>
            <a:r>
              <a:rPr lang="en-US" sz="1999" dirty="0">
                <a:ea typeface="ADLaM Display" panose="02010000000000000000" pitchFamily="2" charset="0"/>
                <a:cs typeface="ADLaM Display" panose="02010000000000000000" pitchFamily="2" charset="0"/>
              </a:rPr>
              <a:t>Input data travels through the network, layer by layer, until it produces an output prediction.</a:t>
            </a:r>
          </a:p>
          <a:p>
            <a:pPr marL="342797" indent="-342797">
              <a:buFont typeface="Wingdings" panose="05000000000000000000" pitchFamily="2" charset="2"/>
              <a:buChar char="Ø"/>
            </a:pPr>
            <a:endParaRPr lang="en-US" sz="1999" b="1" dirty="0">
              <a:ea typeface="ADLaM Display" panose="02010000000000000000" pitchFamily="2" charset="0"/>
              <a:cs typeface="ADLaM Display" panose="02010000000000000000" pitchFamily="2" charset="0"/>
            </a:endParaRPr>
          </a:p>
          <a:p>
            <a:pPr marL="342900" indent="-342900">
              <a:buFont typeface="Wingdings" panose="05000000000000000000" pitchFamily="2" charset="2"/>
              <a:buChar char="§"/>
            </a:pPr>
            <a:r>
              <a:rPr lang="en-US" sz="1999" b="1" dirty="0">
                <a:ea typeface="ADLaM Display" panose="02010000000000000000" pitchFamily="2" charset="0"/>
                <a:cs typeface="ADLaM Display" panose="02010000000000000000" pitchFamily="2" charset="0"/>
              </a:rPr>
              <a:t>Loss Calculation</a:t>
            </a:r>
          </a:p>
          <a:p>
            <a:pPr marL="952393" lvl="1" indent="-342900">
              <a:buFont typeface="Arial" panose="020B0604020202020204" pitchFamily="34" charset="0"/>
              <a:buChar char="•"/>
            </a:pPr>
            <a:r>
              <a:rPr lang="en-US" sz="1999" dirty="0">
                <a:ea typeface="ADLaM Display" panose="02010000000000000000" pitchFamily="2" charset="0"/>
                <a:cs typeface="ADLaM Display" panose="02010000000000000000" pitchFamily="2" charset="0"/>
              </a:rPr>
              <a:t>The network's prediction is compared to the actual target value, and a "loss" or "error" is calculated.</a:t>
            </a:r>
          </a:p>
          <a:p>
            <a:endParaRPr lang="en-AE" sz="2800" dirty="0"/>
          </a:p>
        </p:txBody>
      </p:sp>
    </p:spTree>
    <p:extLst>
      <p:ext uri="{BB962C8B-B14F-4D97-AF65-F5344CB8AC3E}">
        <p14:creationId xmlns:p14="http://schemas.microsoft.com/office/powerpoint/2010/main" val="753052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8D07FDB-F7F5-D636-6819-C1762D7DA82D}"/>
                  </a:ext>
                </a:extLst>
              </p:cNvPr>
              <p:cNvSpPr txBox="1"/>
              <p:nvPr/>
            </p:nvSpPr>
            <p:spPr>
              <a:xfrm>
                <a:off x="934912" y="2232159"/>
                <a:ext cx="5352959" cy="3843296"/>
              </a:xfrm>
              <a:prstGeom prst="rect">
                <a:avLst/>
              </a:prstGeom>
              <a:noFill/>
            </p:spPr>
            <p:txBody>
              <a:bodyPr wrap="square">
                <a:spAutoFit/>
              </a:bodyPr>
              <a:lstStyle/>
              <a:p>
                <a:pPr marL="342900" indent="-342900">
                  <a:buFont typeface="Wingdings" panose="05000000000000000000" pitchFamily="2" charset="2"/>
                  <a:buChar char="§"/>
                </a:pPr>
                <a:r>
                  <a:rPr lang="en-US" sz="1999" b="1" dirty="0">
                    <a:solidFill>
                      <a:schemeClr val="tx1"/>
                    </a:solidFill>
                    <a:ea typeface="ADLaM Display" panose="02010000000000000000" pitchFamily="2" charset="0"/>
                    <a:cs typeface="ADLaM Display" panose="02010000000000000000" pitchFamily="2" charset="0"/>
                  </a:rPr>
                  <a:t>Tanh (Hyperbolic Tangent) {</a:t>
                </a:r>
                <a14:m>
                  <m:oMath xmlns:m="http://schemas.openxmlformats.org/officeDocument/2006/math">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𝒇</m:t>
                    </m:r>
                    <m:d>
                      <m:dPr>
                        <m:ctrl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ctrlPr>
                      </m:dPr>
                      <m:e>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𝒙</m:t>
                        </m:r>
                      </m:e>
                    </m:d>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 </m:t>
                    </m:r>
                    <m:f>
                      <m:fPr>
                        <m:ctrl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ctrlPr>
                      </m:fPr>
                      <m:num>
                        <m:sSup>
                          <m:sSupPr>
                            <m:ctrl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ctrlPr>
                          </m:sSupPr>
                          <m:e>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𝒆</m:t>
                            </m:r>
                          </m:e>
                          <m:sup>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𝒙</m:t>
                            </m:r>
                          </m:sup>
                        </m:sSup>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 −</m:t>
                        </m:r>
                        <m:sSup>
                          <m:sSupPr>
                            <m:ctrl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ctrlPr>
                          </m:sSupPr>
                          <m:e>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 </m:t>
                            </m:r>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𝒆</m:t>
                            </m:r>
                          </m:e>
                          <m:sup>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m:t>
                            </m:r>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𝒙</m:t>
                            </m:r>
                          </m:sup>
                        </m:sSup>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 </m:t>
                        </m:r>
                      </m:num>
                      <m:den>
                        <m:sSup>
                          <m:sSupPr>
                            <m:ctrl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ctrlPr>
                          </m:sSupPr>
                          <m:e>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𝒆</m:t>
                            </m:r>
                          </m:e>
                          <m:sup>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𝒙</m:t>
                            </m:r>
                          </m:sup>
                        </m:sSup>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 + </m:t>
                        </m:r>
                        <m:sSup>
                          <m:sSupPr>
                            <m:ctrl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ctrlPr>
                          </m:sSupPr>
                          <m:e>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𝒆</m:t>
                            </m:r>
                          </m:e>
                          <m:sup>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m:t>
                            </m:r>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𝒙</m:t>
                            </m:r>
                          </m:sup>
                        </m:sSup>
                      </m:den>
                    </m:f>
                  </m:oMath>
                </a14:m>
                <a:r>
                  <a:rPr lang="en-US" sz="1999" b="1" dirty="0">
                    <a:solidFill>
                      <a:schemeClr val="tx1"/>
                    </a:solidFill>
                    <a:ea typeface="ADLaM Display" panose="02010000000000000000" pitchFamily="2" charset="0"/>
                    <a:cs typeface="ADLaM Display" panose="02010000000000000000" pitchFamily="2" charset="0"/>
                  </a:rPr>
                  <a:t>}</a:t>
                </a:r>
                <a:endParaRPr lang="en-US" sz="1999" dirty="0">
                  <a:ea typeface="ADLaM Display" panose="02010000000000000000" pitchFamily="2" charset="0"/>
                  <a:cs typeface="ADLaM Display" panose="02010000000000000000" pitchFamily="2" charset="0"/>
                </a:endParaRPr>
              </a:p>
              <a:p>
                <a:pPr marL="952393" lvl="1" indent="-342900">
                  <a:buFont typeface="Arial" panose="020B0604020202020204" pitchFamily="34" charset="0"/>
                  <a:buChar char="•"/>
                </a:pPr>
                <a:r>
                  <a:rPr lang="en-US" sz="1999" dirty="0">
                    <a:solidFill>
                      <a:schemeClr val="tx1"/>
                    </a:solidFill>
                    <a:ea typeface="ADLaM Display" panose="02010000000000000000" pitchFamily="2" charset="0"/>
                    <a:cs typeface="ADLaM Display" panose="02010000000000000000" pitchFamily="2" charset="0"/>
                  </a:rPr>
                  <a:t>Similar  to Sigmoid, but outputs values between -1 and 1. Its zero-centered output often helps with training stability in hidden layers.</a:t>
                </a:r>
              </a:p>
              <a:p>
                <a:pPr marL="342900" indent="-342900">
                  <a:buFont typeface="Wingdings" panose="05000000000000000000" pitchFamily="2" charset="2"/>
                  <a:buChar char="§"/>
                </a:pPr>
                <a:endParaRPr lang="en-US" sz="1999" b="1" dirty="0">
                  <a:solidFill>
                    <a:schemeClr val="tx1"/>
                  </a:solidFill>
                  <a:ea typeface="ADLaM Display" panose="02010000000000000000" pitchFamily="2" charset="0"/>
                  <a:cs typeface="ADLaM Display" panose="02010000000000000000" pitchFamily="2" charset="0"/>
                </a:endParaRPr>
              </a:p>
              <a:p>
                <a:pPr marL="342900" indent="-342900">
                  <a:buFont typeface="Wingdings" panose="05000000000000000000" pitchFamily="2" charset="2"/>
                  <a:buChar char="§"/>
                </a:pPr>
                <a:r>
                  <a:rPr lang="en-US" sz="1999" b="1" dirty="0" err="1">
                    <a:solidFill>
                      <a:schemeClr val="tx1"/>
                    </a:solidFill>
                    <a:ea typeface="ADLaM Display" panose="02010000000000000000" pitchFamily="2" charset="0"/>
                    <a:cs typeface="ADLaM Display" panose="02010000000000000000" pitchFamily="2" charset="0"/>
                  </a:rPr>
                  <a:t>Softmax</a:t>
                </a:r>
                <a:r>
                  <a:rPr lang="en-US" sz="1999" b="1" dirty="0">
                    <a:solidFill>
                      <a:schemeClr val="tx1"/>
                    </a:solidFill>
                    <a:ea typeface="ADLaM Display" panose="02010000000000000000" pitchFamily="2" charset="0"/>
                    <a:cs typeface="ADLaM Display" panose="02010000000000000000" pitchFamily="2" charset="0"/>
                  </a:rPr>
                  <a:t> {</a:t>
                </a:r>
                <a14:m>
                  <m:oMath xmlns:m="http://schemas.openxmlformats.org/officeDocument/2006/math">
                    <m:r>
                      <m:rPr>
                        <m:sty m:val="p"/>
                      </m:r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P</m:t>
                    </m:r>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m:t>
                    </m:r>
                    <m:r>
                      <m:rPr>
                        <m:sty m:val="p"/>
                      </m:r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Yj</m:t>
                    </m:r>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m:t>
                    </m:r>
                    <m:r>
                      <m:rPr>
                        <m:sty m:val="p"/>
                      </m:r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x</m:t>
                    </m:r>
                    <m: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 = </m:t>
                    </m:r>
                    <m:f>
                      <m:fPr>
                        <m:ctrl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ctrlPr>
                      </m:fPr>
                      <m:num>
                        <m:sSup>
                          <m:sSupPr>
                            <m:ctrl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ctrlPr>
                          </m:sSupPr>
                          <m:e>
                            <m:r>
                              <m:rPr>
                                <m:sty m:val="p"/>
                              </m:r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e</m:t>
                            </m:r>
                          </m:e>
                          <m:sup>
                            <m:r>
                              <m:rPr>
                                <m:sty m:val="p"/>
                              </m:r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z</m:t>
                            </m:r>
                          </m:sup>
                        </m:sSup>
                        <m:r>
                          <m:rPr>
                            <m:sty m:val="p"/>
                          </m:r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j</m:t>
                        </m:r>
                      </m:num>
                      <m:den>
                        <m:nary>
                          <m:naryPr>
                            <m:chr m:val="∑"/>
                            <m:supHide m:val="on"/>
                            <m:ctrl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ctrlPr>
                          </m:naryPr>
                          <m:sub>
                            <m:r>
                              <m:rPr>
                                <m:sty m:val="p"/>
                                <m:brk m:alnAt="7"/>
                              </m:r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k</m:t>
                            </m:r>
                          </m:sub>
                          <m:sup/>
                          <m:e>
                            <m:sSup>
                              <m:sSupPr>
                                <m:ctrl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ctrlPr>
                              </m:sSupPr>
                              <m:e>
                                <m:r>
                                  <m:rPr>
                                    <m:sty m:val="p"/>
                                  </m:r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e</m:t>
                                </m:r>
                              </m:e>
                              <m:sup>
                                <m:r>
                                  <m:rPr>
                                    <m:sty m:val="p"/>
                                  </m:r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z</m:t>
                                </m:r>
                              </m:sup>
                            </m:sSup>
                            <m:r>
                              <m:rPr>
                                <m:sty m:val="p"/>
                              </m:rPr>
                              <a:rPr lang="en-US" sz="1999"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k</m:t>
                            </m:r>
                          </m:e>
                        </m:nary>
                      </m:den>
                    </m:f>
                  </m:oMath>
                </a14:m>
                <a:r>
                  <a:rPr lang="en-US" sz="1999" b="1" dirty="0">
                    <a:solidFill>
                      <a:schemeClr val="tx1"/>
                    </a:solidFill>
                    <a:ea typeface="ADLaM Display" panose="02010000000000000000" pitchFamily="2" charset="0"/>
                    <a:cs typeface="ADLaM Display" panose="02010000000000000000" pitchFamily="2" charset="0"/>
                  </a:rPr>
                  <a:t>}</a:t>
                </a:r>
                <a:endParaRPr lang="en-US" sz="1999" dirty="0">
                  <a:ea typeface="ADLaM Display" panose="02010000000000000000" pitchFamily="2" charset="0"/>
                  <a:cs typeface="ADLaM Display" panose="02010000000000000000" pitchFamily="2" charset="0"/>
                </a:endParaRPr>
              </a:p>
              <a:p>
                <a:pPr marL="952393" lvl="1" indent="-342900">
                  <a:buFont typeface="Arial" panose="020B0604020202020204" pitchFamily="34" charset="0"/>
                  <a:buChar char="•"/>
                </a:pPr>
                <a:r>
                  <a:rPr lang="en-US" sz="1999" dirty="0">
                    <a:solidFill>
                      <a:schemeClr val="tx1"/>
                    </a:solidFill>
                    <a:ea typeface="ADLaM Display" panose="02010000000000000000" pitchFamily="2" charset="0"/>
                    <a:cs typeface="ADLaM Display" panose="02010000000000000000" pitchFamily="2" charset="0"/>
                  </a:rPr>
                  <a:t>Used in the output layer for multi-class classification, converting raw scores into a probability distribution over multiple classes.</a:t>
                </a:r>
              </a:p>
            </p:txBody>
          </p:sp>
        </mc:Choice>
        <mc:Fallback xmlns="">
          <p:sp>
            <p:nvSpPr>
              <p:cNvPr id="3" name="TextBox 2">
                <a:extLst>
                  <a:ext uri="{FF2B5EF4-FFF2-40B4-BE49-F238E27FC236}">
                    <a16:creationId xmlns:a16="http://schemas.microsoft.com/office/drawing/2014/main" id="{E8D07FDB-F7F5-D636-6819-C1762D7DA82D}"/>
                  </a:ext>
                </a:extLst>
              </p:cNvPr>
              <p:cNvSpPr txBox="1">
                <a:spLocks noRot="1" noChangeAspect="1" noMove="1" noResize="1" noEditPoints="1" noAdjustHandles="1" noChangeArrowheads="1" noChangeShapeType="1" noTextEdit="1"/>
              </p:cNvSpPr>
              <p:nvPr/>
            </p:nvSpPr>
            <p:spPr>
              <a:xfrm>
                <a:off x="934912" y="2232159"/>
                <a:ext cx="5352959" cy="3843296"/>
              </a:xfrm>
              <a:prstGeom prst="rect">
                <a:avLst/>
              </a:prstGeom>
              <a:blipFill>
                <a:blip r:embed="rId2"/>
                <a:stretch>
                  <a:fillRect l="-1025" r="-1253" b="-1743"/>
                </a:stretch>
              </a:blipFill>
            </p:spPr>
            <p:txBody>
              <a:bodyPr/>
              <a:lstStyle/>
              <a:p>
                <a:r>
                  <a:rPr lang="en-AE">
                    <a:noFill/>
                  </a:rPr>
                  <a:t> </a:t>
                </a:r>
              </a:p>
            </p:txBody>
          </p:sp>
        </mc:Fallback>
      </mc:AlternateContent>
      <p:sp>
        <p:nvSpPr>
          <p:cNvPr id="2" name="Title 12">
            <a:extLst>
              <a:ext uri="{FF2B5EF4-FFF2-40B4-BE49-F238E27FC236}">
                <a16:creationId xmlns:a16="http://schemas.microsoft.com/office/drawing/2014/main" id="{4066DA44-9739-0F1F-1C4D-CCADEC444B29}"/>
              </a:ext>
            </a:extLst>
          </p:cNvPr>
          <p:cNvSpPr txBox="1">
            <a:spLocks/>
          </p:cNvSpPr>
          <p:nvPr/>
        </p:nvSpPr>
        <p:spPr>
          <a:xfrm>
            <a:off x="1269876" y="260648"/>
            <a:ext cx="10360501" cy="788731"/>
          </a:xfrm>
          <a:prstGeom prst="rect">
            <a:avLst/>
          </a:prstGeom>
        </p:spPr>
        <p:txBody>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r>
              <a:rPr lang="en-US" sz="4000" b="1" dirty="0"/>
              <a:t>ACTIVATION FUNCTIONS</a:t>
            </a:r>
          </a:p>
        </p:txBody>
      </p:sp>
      <p:sp>
        <p:nvSpPr>
          <p:cNvPr id="4" name="TextBox 3">
            <a:extLst>
              <a:ext uri="{FF2B5EF4-FFF2-40B4-BE49-F238E27FC236}">
                <a16:creationId xmlns:a16="http://schemas.microsoft.com/office/drawing/2014/main" id="{81991815-91C6-A5F0-B146-C5BD0932A918}"/>
              </a:ext>
            </a:extLst>
          </p:cNvPr>
          <p:cNvSpPr txBox="1"/>
          <p:nvPr/>
        </p:nvSpPr>
        <p:spPr>
          <a:xfrm>
            <a:off x="909836" y="1031830"/>
            <a:ext cx="11278989" cy="1200329"/>
          </a:xfrm>
          <a:prstGeom prst="rect">
            <a:avLst/>
          </a:prstGeom>
          <a:noFill/>
        </p:spPr>
        <p:txBody>
          <a:bodyPr wrap="square" rtlCol="0">
            <a:spAutoFit/>
          </a:bodyPr>
          <a:lstStyle/>
          <a:p>
            <a:r>
              <a:rPr lang="en-US" sz="1800" dirty="0">
                <a:ea typeface="ADLaM Display" panose="02010000000000000000" pitchFamily="2" charset="0"/>
                <a:cs typeface="ADLaM Display" panose="02010000000000000000" pitchFamily="2" charset="0"/>
              </a:rPr>
              <a:t>Activation functions introduce non-linearity into neural networks, allowing them to learn complex patterns and make sophisticated decisions beyond simple linear relationships. Without them, a neural network, no matter how deep, would behave like a single-layer perceptron.</a:t>
            </a:r>
          </a:p>
          <a:p>
            <a:endParaRPr lang="en-AE" sz="18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8FA3D07-2A15-9AC7-0FC5-EB93BCAB52B1}"/>
                  </a:ext>
                </a:extLst>
              </p:cNvPr>
              <p:cNvSpPr txBox="1"/>
              <p:nvPr/>
            </p:nvSpPr>
            <p:spPr>
              <a:xfrm>
                <a:off x="6360694" y="2232159"/>
                <a:ext cx="5708673" cy="3926203"/>
              </a:xfrm>
              <a:prstGeom prst="rect">
                <a:avLst/>
              </a:prstGeom>
              <a:noFill/>
            </p:spPr>
            <p:txBody>
              <a:bodyPr wrap="square">
                <a:spAutoFit/>
              </a:bodyPr>
              <a:lstStyle/>
              <a:p>
                <a:pPr marL="342900" indent="-342900">
                  <a:buFont typeface="Wingdings" panose="05000000000000000000" pitchFamily="2" charset="2"/>
                  <a:buChar char="§"/>
                </a:pPr>
                <a:r>
                  <a:rPr lang="en-US" sz="2000" b="1" dirty="0">
                    <a:solidFill>
                      <a:schemeClr val="tx1"/>
                    </a:solidFill>
                    <a:ea typeface="ADLaM Display" panose="02010000000000000000" pitchFamily="2" charset="0"/>
                    <a:cs typeface="ADLaM Display" panose="02010000000000000000" pitchFamily="2" charset="0"/>
                  </a:rPr>
                  <a:t>Sigmoid {</a:t>
                </a:r>
                <a14:m>
                  <m:oMath xmlns:m="http://schemas.openxmlformats.org/officeDocument/2006/math">
                    <m:r>
                      <a:rPr lang="en-US" sz="2000"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𝒇</m:t>
                    </m:r>
                    <m:d>
                      <m:dPr>
                        <m:ctrlPr>
                          <a:rPr lang="en-US" sz="2000"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ctrlPr>
                      </m:dPr>
                      <m:e>
                        <m:r>
                          <a:rPr lang="en-US" sz="2000"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𝒙</m:t>
                        </m:r>
                      </m:e>
                    </m:d>
                    <m:r>
                      <a:rPr lang="en-US" sz="2000"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m:t>
                    </m:r>
                    <m:f>
                      <m:fPr>
                        <m:ctrlPr>
                          <a:rPr lang="en-US" sz="2000"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ctrlPr>
                      </m:fPr>
                      <m:num>
                        <m:r>
                          <a:rPr lang="en-US" sz="2000"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𝟏</m:t>
                        </m:r>
                      </m:num>
                      <m:den>
                        <m:r>
                          <a:rPr lang="en-US" sz="2000"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𝟏</m:t>
                        </m:r>
                        <m:r>
                          <a:rPr lang="en-US" sz="2000"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m:t>
                        </m:r>
                        <m:sSup>
                          <m:sSupPr>
                            <m:ctrlPr>
                              <a:rPr lang="en-US" sz="2000"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ctrlPr>
                          </m:sSupPr>
                          <m:e>
                            <m:r>
                              <a:rPr lang="en-US" sz="2000"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𝒆</m:t>
                            </m:r>
                          </m:e>
                          <m:sup>
                            <m:r>
                              <a:rPr lang="en-US" sz="2000"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m:t>
                            </m:r>
                            <m:r>
                              <a:rPr lang="en-US" sz="2000" b="1" i="1">
                                <a:solidFill>
                                  <a:schemeClr val="tx1"/>
                                </a:solidFill>
                                <a:latin typeface="Cambria Math" panose="02040503050406030204" pitchFamily="18" charset="0"/>
                                <a:ea typeface="ADLaM Display" panose="02010000000000000000" pitchFamily="2" charset="0"/>
                                <a:cs typeface="ADLaM Display" panose="02010000000000000000" pitchFamily="2" charset="0"/>
                              </a:rPr>
                              <m:t>𝒙</m:t>
                            </m:r>
                          </m:sup>
                        </m:sSup>
                      </m:den>
                    </m:f>
                  </m:oMath>
                </a14:m>
                <a:r>
                  <a:rPr lang="en-US" sz="2000" b="1" dirty="0">
                    <a:solidFill>
                      <a:schemeClr val="tx1"/>
                    </a:solidFill>
                    <a:ea typeface="ADLaM Display" panose="02010000000000000000" pitchFamily="2" charset="0"/>
                    <a:cs typeface="ADLaM Display" panose="02010000000000000000" pitchFamily="2" charset="0"/>
                  </a:rPr>
                  <a:t>}</a:t>
                </a:r>
                <a:endParaRPr lang="en-US" sz="2000" dirty="0">
                  <a:ea typeface="ADLaM Display" panose="02010000000000000000" pitchFamily="2" charset="0"/>
                  <a:cs typeface="ADLaM Display" panose="02010000000000000000" pitchFamily="2" charset="0"/>
                </a:endParaRPr>
              </a:p>
              <a:p>
                <a:pPr marL="952393" lvl="1" indent="-342900">
                  <a:buFont typeface="Arial" panose="020B0604020202020204" pitchFamily="34" charset="0"/>
                  <a:buChar char="•"/>
                </a:pPr>
                <a:r>
                  <a:rPr lang="en-US" sz="2000" dirty="0">
                    <a:solidFill>
                      <a:schemeClr val="tx1"/>
                    </a:solidFill>
                    <a:ea typeface="ADLaM Display" panose="02010000000000000000" pitchFamily="2" charset="0"/>
                    <a:cs typeface="ADLaM Display" panose="02010000000000000000" pitchFamily="2" charset="0"/>
                  </a:rPr>
                  <a:t>Maps input values to a range between 0 and 1. Useful for binary classification output layers, but prone to vanishing gradients in deep networks.</a:t>
                </a:r>
              </a:p>
              <a:p>
                <a:pPr marL="952393" lvl="1" indent="-342900">
                  <a:buFont typeface="Arial" panose="020B0604020202020204" pitchFamily="34" charset="0"/>
                  <a:buChar char="•"/>
                </a:pPr>
                <a:endParaRPr lang="en-US" sz="2000" dirty="0">
                  <a:ea typeface="ADLaM Display" panose="02010000000000000000" pitchFamily="2" charset="0"/>
                  <a:cs typeface="ADLaM Display" panose="02010000000000000000" pitchFamily="2" charset="0"/>
                </a:endParaRPr>
              </a:p>
              <a:p>
                <a:pPr lvl="1"/>
                <a:endParaRPr lang="en-US" sz="2000" dirty="0">
                  <a:solidFill>
                    <a:schemeClr val="tx1"/>
                  </a:solidFill>
                  <a:ea typeface="ADLaM Display" panose="02010000000000000000" pitchFamily="2" charset="0"/>
                  <a:cs typeface="ADLaM Display" panose="02010000000000000000" pitchFamily="2" charset="0"/>
                </a:endParaRPr>
              </a:p>
              <a:p>
                <a:pPr marL="342900" indent="-342900">
                  <a:buFont typeface="Wingdings" panose="05000000000000000000" pitchFamily="2" charset="2"/>
                  <a:buChar char="§"/>
                </a:pPr>
                <a:r>
                  <a:rPr lang="en-US" sz="2000" b="1" dirty="0">
                    <a:ea typeface="ADLaM Display" panose="02010000000000000000" pitchFamily="2" charset="0"/>
                    <a:cs typeface="ADLaM Display" panose="02010000000000000000" pitchFamily="2" charset="0"/>
                  </a:rPr>
                  <a:t>ReLU (Rectified Linear Unit) {</a:t>
                </a:r>
                <a14:m>
                  <m:oMath xmlns:m="http://schemas.openxmlformats.org/officeDocument/2006/math">
                    <m:r>
                      <a:rPr lang="en-US" sz="2000" b="1" i="1">
                        <a:latin typeface="Cambria Math" panose="02040503050406030204" pitchFamily="18" charset="0"/>
                        <a:ea typeface="ADLaM Display" panose="02010000000000000000" pitchFamily="2" charset="0"/>
                        <a:cs typeface="ADLaM Display" panose="02010000000000000000" pitchFamily="2" charset="0"/>
                      </a:rPr>
                      <m:t>𝒇</m:t>
                    </m:r>
                    <m:d>
                      <m:dPr>
                        <m:ctrlPr>
                          <a:rPr lang="en-US" sz="2000" b="1" i="1">
                            <a:latin typeface="Cambria Math" panose="02040503050406030204" pitchFamily="18" charset="0"/>
                            <a:ea typeface="ADLaM Display" panose="02010000000000000000" pitchFamily="2" charset="0"/>
                            <a:cs typeface="ADLaM Display" panose="02010000000000000000" pitchFamily="2" charset="0"/>
                          </a:rPr>
                        </m:ctrlPr>
                      </m:dPr>
                      <m:e>
                        <m:r>
                          <a:rPr lang="en-US" sz="2000" b="1" i="1">
                            <a:latin typeface="Cambria Math" panose="02040503050406030204" pitchFamily="18" charset="0"/>
                            <a:ea typeface="ADLaM Display" panose="02010000000000000000" pitchFamily="2" charset="0"/>
                            <a:cs typeface="ADLaM Display" panose="02010000000000000000" pitchFamily="2" charset="0"/>
                          </a:rPr>
                          <m:t>𝒙</m:t>
                        </m:r>
                      </m:e>
                    </m:d>
                    <m:r>
                      <a:rPr lang="en-US" sz="2000" b="1" i="1">
                        <a:latin typeface="Cambria Math" panose="02040503050406030204" pitchFamily="18" charset="0"/>
                        <a:ea typeface="ADLaM Display" panose="02010000000000000000" pitchFamily="2" charset="0"/>
                        <a:cs typeface="ADLaM Display" panose="02010000000000000000" pitchFamily="2" charset="0"/>
                      </a:rPr>
                      <m:t>=</m:t>
                    </m:r>
                    <m:r>
                      <a:rPr lang="en-US" sz="2000" b="1" i="1">
                        <a:latin typeface="Cambria Math" panose="02040503050406030204" pitchFamily="18" charset="0"/>
                        <a:ea typeface="ADLaM Display" panose="02010000000000000000" pitchFamily="2" charset="0"/>
                        <a:cs typeface="ADLaM Display" panose="02010000000000000000" pitchFamily="2" charset="0"/>
                      </a:rPr>
                      <m:t>𝒎𝒂𝒙</m:t>
                    </m:r>
                    <m:r>
                      <a:rPr lang="en-US" sz="2000" b="1" i="1">
                        <a:latin typeface="Cambria Math" panose="02040503050406030204" pitchFamily="18" charset="0"/>
                        <a:ea typeface="ADLaM Display" panose="02010000000000000000" pitchFamily="2" charset="0"/>
                        <a:cs typeface="ADLaM Display" panose="02010000000000000000" pitchFamily="2" charset="0"/>
                      </a:rPr>
                      <m:t>(</m:t>
                    </m:r>
                    <m:r>
                      <a:rPr lang="en-US" sz="2000" b="1" i="1">
                        <a:latin typeface="Cambria Math" panose="02040503050406030204" pitchFamily="18" charset="0"/>
                        <a:ea typeface="ADLaM Display" panose="02010000000000000000" pitchFamily="2" charset="0"/>
                        <a:cs typeface="ADLaM Display" panose="02010000000000000000" pitchFamily="2" charset="0"/>
                      </a:rPr>
                      <m:t>𝟎</m:t>
                    </m:r>
                    <m:r>
                      <a:rPr lang="en-US" sz="2000" b="1" i="1">
                        <a:latin typeface="Cambria Math" panose="02040503050406030204" pitchFamily="18" charset="0"/>
                        <a:ea typeface="ADLaM Display" panose="02010000000000000000" pitchFamily="2" charset="0"/>
                        <a:cs typeface="ADLaM Display" panose="02010000000000000000" pitchFamily="2" charset="0"/>
                      </a:rPr>
                      <m:t>,</m:t>
                    </m:r>
                    <m:r>
                      <a:rPr lang="en-US" sz="2000" b="1" i="1">
                        <a:latin typeface="Cambria Math" panose="02040503050406030204" pitchFamily="18" charset="0"/>
                        <a:ea typeface="ADLaM Display" panose="02010000000000000000" pitchFamily="2" charset="0"/>
                        <a:cs typeface="ADLaM Display" panose="02010000000000000000" pitchFamily="2" charset="0"/>
                      </a:rPr>
                      <m:t>𝒙</m:t>
                    </m:r>
                    <m:r>
                      <a:rPr lang="en-US" sz="2000" b="1" i="1">
                        <a:latin typeface="Cambria Math" panose="02040503050406030204" pitchFamily="18" charset="0"/>
                        <a:ea typeface="ADLaM Display" panose="02010000000000000000" pitchFamily="2" charset="0"/>
                        <a:cs typeface="ADLaM Display" panose="02010000000000000000" pitchFamily="2" charset="0"/>
                      </a:rPr>
                      <m:t>)</m:t>
                    </m:r>
                  </m:oMath>
                </a14:m>
                <a:r>
                  <a:rPr lang="en-US" sz="2000" b="1" dirty="0">
                    <a:ea typeface="ADLaM Display" panose="02010000000000000000" pitchFamily="2" charset="0"/>
                    <a:cs typeface="ADLaM Display" panose="02010000000000000000" pitchFamily="2" charset="0"/>
                  </a:rPr>
                  <a:t>}</a:t>
                </a:r>
                <a:endParaRPr lang="en-US" sz="2000" dirty="0">
                  <a:ea typeface="ADLaM Display" panose="02010000000000000000" pitchFamily="2" charset="0"/>
                  <a:cs typeface="ADLaM Display" panose="02010000000000000000" pitchFamily="2" charset="0"/>
                </a:endParaRPr>
              </a:p>
              <a:p>
                <a:pPr marL="952393" lvl="1" indent="-342900">
                  <a:buFont typeface="Arial" panose="020B0604020202020204" pitchFamily="34" charset="0"/>
                  <a:buChar char="•"/>
                </a:pPr>
                <a:r>
                  <a:rPr lang="en-US" sz="2000" dirty="0">
                    <a:ea typeface="ADLaM Display" panose="02010000000000000000" pitchFamily="2" charset="0"/>
                    <a:cs typeface="ADLaM Display" panose="02010000000000000000" pitchFamily="2" charset="0"/>
                  </a:rPr>
                  <a:t>The most common choice for hidden layers due to computational efficiency and solving the vanishing gradient problem.</a:t>
                </a:r>
              </a:p>
              <a:p>
                <a:pPr marL="952393" lvl="1" indent="-342900">
                  <a:buFont typeface="Arial" panose="020B0604020202020204" pitchFamily="34" charset="0"/>
                  <a:buChar char="•"/>
                </a:pPr>
                <a:endParaRPr lang="en-US" sz="2000" dirty="0">
                  <a:solidFill>
                    <a:schemeClr val="tx1"/>
                  </a:solidFill>
                  <a:ea typeface="ADLaM Display" panose="02010000000000000000" pitchFamily="2" charset="0"/>
                  <a:cs typeface="ADLaM Display" panose="02010000000000000000" pitchFamily="2" charset="0"/>
                </a:endParaRPr>
              </a:p>
            </p:txBody>
          </p:sp>
        </mc:Choice>
        <mc:Fallback xmlns="">
          <p:sp>
            <p:nvSpPr>
              <p:cNvPr id="6" name="TextBox 5">
                <a:extLst>
                  <a:ext uri="{FF2B5EF4-FFF2-40B4-BE49-F238E27FC236}">
                    <a16:creationId xmlns:a16="http://schemas.microsoft.com/office/drawing/2014/main" id="{18FA3D07-2A15-9AC7-0FC5-EB93BCAB52B1}"/>
                  </a:ext>
                </a:extLst>
              </p:cNvPr>
              <p:cNvSpPr txBox="1">
                <a:spLocks noRot="1" noChangeAspect="1" noMove="1" noResize="1" noEditPoints="1" noAdjustHandles="1" noChangeArrowheads="1" noChangeShapeType="1" noTextEdit="1"/>
              </p:cNvSpPr>
              <p:nvPr/>
            </p:nvSpPr>
            <p:spPr>
              <a:xfrm>
                <a:off x="6360694" y="2232159"/>
                <a:ext cx="5708673" cy="3926203"/>
              </a:xfrm>
              <a:prstGeom prst="rect">
                <a:avLst/>
              </a:prstGeom>
              <a:blipFill>
                <a:blip r:embed="rId3"/>
                <a:stretch>
                  <a:fillRect l="-961" r="-1814"/>
                </a:stretch>
              </a:blipFill>
            </p:spPr>
            <p:txBody>
              <a:bodyPr/>
              <a:lstStyle/>
              <a:p>
                <a:r>
                  <a:rPr lang="en-AE">
                    <a:noFill/>
                  </a:rPr>
                  <a:t> </a:t>
                </a:r>
              </a:p>
            </p:txBody>
          </p:sp>
        </mc:Fallback>
      </mc:AlternateContent>
    </p:spTree>
    <p:extLst>
      <p:ext uri="{BB962C8B-B14F-4D97-AF65-F5344CB8AC3E}">
        <p14:creationId xmlns:p14="http://schemas.microsoft.com/office/powerpoint/2010/main" val="2072901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4F4B653-155E-1B5A-5EDD-D8699A2C4D10}"/>
              </a:ext>
            </a:extLst>
          </p:cNvPr>
          <p:cNvGraphicFramePr>
            <a:graphicFrameLocks noGrp="1"/>
          </p:cNvGraphicFramePr>
          <p:nvPr>
            <p:extLst>
              <p:ext uri="{D42A27DB-BD31-4B8C-83A1-F6EECF244321}">
                <p14:modId xmlns:p14="http://schemas.microsoft.com/office/powerpoint/2010/main" val="4062750272"/>
              </p:ext>
            </p:extLst>
          </p:nvPr>
        </p:nvGraphicFramePr>
        <p:xfrm>
          <a:off x="1163116" y="3429000"/>
          <a:ext cx="6840760" cy="3060189"/>
        </p:xfrm>
        <a:graphic>
          <a:graphicData uri="http://schemas.openxmlformats.org/drawingml/2006/table">
            <a:tbl>
              <a:tblPr>
                <a:noFill/>
              </a:tblPr>
              <a:tblGrid>
                <a:gridCol w="1962320">
                  <a:extLst>
                    <a:ext uri="{9D8B030D-6E8A-4147-A177-3AD203B41FA5}">
                      <a16:colId xmlns:a16="http://schemas.microsoft.com/office/drawing/2014/main" val="1742504119"/>
                    </a:ext>
                  </a:extLst>
                </a:gridCol>
                <a:gridCol w="2183210">
                  <a:extLst>
                    <a:ext uri="{9D8B030D-6E8A-4147-A177-3AD203B41FA5}">
                      <a16:colId xmlns:a16="http://schemas.microsoft.com/office/drawing/2014/main" val="1610422547"/>
                    </a:ext>
                  </a:extLst>
                </a:gridCol>
                <a:gridCol w="2695230">
                  <a:extLst>
                    <a:ext uri="{9D8B030D-6E8A-4147-A177-3AD203B41FA5}">
                      <a16:colId xmlns:a16="http://schemas.microsoft.com/office/drawing/2014/main" val="442950435"/>
                    </a:ext>
                  </a:extLst>
                </a:gridCol>
              </a:tblGrid>
              <a:tr h="770158">
                <a:tc>
                  <a:txBody>
                    <a:bodyPr/>
                    <a:lstStyle/>
                    <a:p>
                      <a:pPr>
                        <a:buNone/>
                      </a:pPr>
                      <a:r>
                        <a:rPr lang="en-IN" sz="1600" b="1" dirty="0">
                          <a:solidFill>
                            <a:schemeClr val="tx1"/>
                          </a:solidFill>
                          <a:latin typeface="Aptos Display" panose="020B0004020202020204" pitchFamily="34" charset="0"/>
                          <a:ea typeface="ADLaM Display" panose="02010000000000000000" pitchFamily="2" charset="0"/>
                          <a:cs typeface="ADLaM Display" panose="02010000000000000000" pitchFamily="2" charset="0"/>
                        </a:rPr>
                        <a:t>Feature Extraction</a:t>
                      </a:r>
                    </a:p>
                  </a:txBody>
                  <a:tcPr marL="226980" marR="113489" marT="113489" marB="113489"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solidFill>
                      <a:schemeClr val="accent1">
                        <a:lumMod val="60000"/>
                        <a:lumOff val="40000"/>
                      </a:schemeClr>
                    </a:solidFill>
                  </a:tcPr>
                </a:tc>
                <a:tc>
                  <a:txBody>
                    <a:bodyPr/>
                    <a:lstStyle/>
                    <a:p>
                      <a:pPr>
                        <a:buNone/>
                      </a:pPr>
                      <a:r>
                        <a:rPr lang="en-US" sz="1100"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Automatic, learns from raw data</a:t>
                      </a:r>
                    </a:p>
                  </a:txBody>
                  <a:tcPr marL="226980" marR="113489" marT="113489" marB="113489"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buNone/>
                      </a:pPr>
                      <a:r>
                        <a:rPr lang="en-IN" sz="1100"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Manual, human-engineered features</a:t>
                      </a:r>
                    </a:p>
                  </a:txBody>
                  <a:tcPr marL="226980" marR="113489" marT="113489" marB="113489"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1026504661"/>
                  </a:ext>
                </a:extLst>
              </a:tr>
              <a:tr h="770158">
                <a:tc>
                  <a:txBody>
                    <a:bodyPr/>
                    <a:lstStyle/>
                    <a:p>
                      <a:pPr>
                        <a:buNone/>
                      </a:pPr>
                      <a:r>
                        <a:rPr lang="en-IN" sz="1600" b="1" dirty="0">
                          <a:solidFill>
                            <a:schemeClr val="tx1"/>
                          </a:solidFill>
                          <a:latin typeface="Aptos Display" panose="020B0004020202020204" pitchFamily="34" charset="0"/>
                          <a:ea typeface="ADLaM Display" panose="02010000000000000000" pitchFamily="2" charset="0"/>
                          <a:cs typeface="ADLaM Display" panose="02010000000000000000" pitchFamily="2" charset="0"/>
                        </a:rPr>
                        <a:t>Data Requirements</a:t>
                      </a:r>
                    </a:p>
                  </a:txBody>
                  <a:tcPr marL="226980" marR="113489" marT="113489" marB="113489"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solidFill>
                      <a:schemeClr val="accent1">
                        <a:lumMod val="60000"/>
                        <a:lumOff val="40000"/>
                      </a:schemeClr>
                    </a:solidFill>
                  </a:tcPr>
                </a:tc>
                <a:tc>
                  <a:txBody>
                    <a:bodyPr/>
                    <a:lstStyle/>
                    <a:p>
                      <a:pPr>
                        <a:buNone/>
                      </a:pPr>
                      <a:r>
                        <a:rPr lang="en-IN" sz="1100"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Requires large datasets</a:t>
                      </a:r>
                    </a:p>
                  </a:txBody>
                  <a:tcPr marL="226980" marR="113489" marT="113489" marB="113489"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buNone/>
                      </a:pPr>
                      <a:r>
                        <a:rPr lang="en-IN" sz="1100">
                          <a:solidFill>
                            <a:schemeClr val="tx2"/>
                          </a:solidFill>
                          <a:latin typeface="ADLaM Display" panose="02010000000000000000" pitchFamily="2" charset="0"/>
                          <a:ea typeface="ADLaM Display" panose="02010000000000000000" pitchFamily="2" charset="0"/>
                          <a:cs typeface="ADLaM Display" panose="02010000000000000000" pitchFamily="2" charset="0"/>
                        </a:rPr>
                        <a:t>Effective with smaller datasets</a:t>
                      </a:r>
                    </a:p>
                  </a:txBody>
                  <a:tcPr marL="226980" marR="113489" marT="113489" marB="113489"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1051869716"/>
                  </a:ext>
                </a:extLst>
              </a:tr>
              <a:tr h="733291">
                <a:tc>
                  <a:txBody>
                    <a:bodyPr/>
                    <a:lstStyle/>
                    <a:p>
                      <a:pPr>
                        <a:buNone/>
                      </a:pPr>
                      <a:r>
                        <a:rPr lang="en-IN" sz="1600" b="1" dirty="0">
                          <a:solidFill>
                            <a:schemeClr val="tx1"/>
                          </a:solidFill>
                          <a:latin typeface="Aptos Display" panose="020B0004020202020204" pitchFamily="34" charset="0"/>
                          <a:ea typeface="ADLaM Display" panose="02010000000000000000" pitchFamily="2" charset="0"/>
                          <a:cs typeface="ADLaM Display" panose="02010000000000000000" pitchFamily="2" charset="0"/>
                        </a:rPr>
                        <a:t>Interpretability</a:t>
                      </a:r>
                    </a:p>
                  </a:txBody>
                  <a:tcPr marL="226980" marR="113489" marT="113489" marB="113489"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solidFill>
                      <a:schemeClr val="accent1">
                        <a:lumMod val="60000"/>
                        <a:lumOff val="40000"/>
                      </a:schemeClr>
                    </a:solidFill>
                  </a:tcPr>
                </a:tc>
                <a:tc>
                  <a:txBody>
                    <a:bodyPr/>
                    <a:lstStyle/>
                    <a:p>
                      <a:pPr>
                        <a:buNone/>
                      </a:pPr>
                      <a:r>
                        <a:rPr lang="en-US" sz="1100">
                          <a:solidFill>
                            <a:schemeClr val="tx2"/>
                          </a:solidFill>
                          <a:latin typeface="ADLaM Display" panose="02010000000000000000" pitchFamily="2" charset="0"/>
                          <a:ea typeface="ADLaM Display" panose="02010000000000000000" pitchFamily="2" charset="0"/>
                          <a:cs typeface="ADLaM Display" panose="02010000000000000000" pitchFamily="2" charset="0"/>
                        </a:rPr>
                        <a:t>"Black box," hard to explain</a:t>
                      </a:r>
                    </a:p>
                  </a:txBody>
                  <a:tcPr marL="226980" marR="113489" marT="113489" marB="113489"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buNone/>
                      </a:pPr>
                      <a:r>
                        <a:rPr lang="en-IN" sz="1100"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More transparent and interpretable</a:t>
                      </a:r>
                    </a:p>
                  </a:txBody>
                  <a:tcPr marL="226980" marR="113489" marT="113489" marB="113489"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3508167570"/>
                  </a:ext>
                </a:extLst>
              </a:tr>
              <a:tr h="786582">
                <a:tc>
                  <a:txBody>
                    <a:bodyPr/>
                    <a:lstStyle/>
                    <a:p>
                      <a:pPr>
                        <a:buNone/>
                      </a:pPr>
                      <a:r>
                        <a:rPr lang="en-IN" sz="1600" b="1" dirty="0">
                          <a:solidFill>
                            <a:schemeClr val="tx1"/>
                          </a:solidFill>
                          <a:latin typeface="Aptos Display" panose="020B0004020202020204" pitchFamily="34" charset="0"/>
                          <a:ea typeface="ADLaM Display" panose="02010000000000000000" pitchFamily="2" charset="0"/>
                          <a:cs typeface="ADLaM Display" panose="02010000000000000000" pitchFamily="2" charset="0"/>
                        </a:rPr>
                        <a:t>Performance</a:t>
                      </a:r>
                    </a:p>
                  </a:txBody>
                  <a:tcPr marL="226980" marR="113489" marT="113489" marB="113489"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solidFill>
                      <a:schemeClr val="accent1">
                        <a:lumMod val="60000"/>
                        <a:lumOff val="40000"/>
                      </a:schemeClr>
                    </a:solidFill>
                  </a:tcPr>
                </a:tc>
                <a:tc>
                  <a:txBody>
                    <a:bodyPr/>
                    <a:lstStyle/>
                    <a:p>
                      <a:pPr>
                        <a:buNone/>
                      </a:pPr>
                      <a:r>
                        <a:rPr lang="en-US" sz="1100">
                          <a:solidFill>
                            <a:schemeClr val="tx2"/>
                          </a:solidFill>
                          <a:latin typeface="ADLaM Display" panose="02010000000000000000" pitchFamily="2" charset="0"/>
                          <a:ea typeface="ADLaM Display" panose="02010000000000000000" pitchFamily="2" charset="0"/>
                          <a:cs typeface="ADLaM Display" panose="02010000000000000000" pitchFamily="2" charset="0"/>
                        </a:rPr>
                        <a:t>Scales well, high accuracy on complex tasks</a:t>
                      </a:r>
                    </a:p>
                  </a:txBody>
                  <a:tcPr marL="226980" marR="113489" marT="113489" marB="113489"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buNone/>
                      </a:pPr>
                      <a:r>
                        <a:rPr lang="en-US" sz="1100"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Performance often plateaus, struggles with highly complex data</a:t>
                      </a:r>
                    </a:p>
                  </a:txBody>
                  <a:tcPr marL="226980" marR="113489" marT="113489" marB="113489"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190126142"/>
                  </a:ext>
                </a:extLst>
              </a:tr>
            </a:tbl>
          </a:graphicData>
        </a:graphic>
      </p:graphicFrame>
      <p:sp>
        <p:nvSpPr>
          <p:cNvPr id="4" name="Title 12">
            <a:extLst>
              <a:ext uri="{FF2B5EF4-FFF2-40B4-BE49-F238E27FC236}">
                <a16:creationId xmlns:a16="http://schemas.microsoft.com/office/drawing/2014/main" id="{AAB97257-74FA-E924-FD92-9970B86BFF93}"/>
              </a:ext>
            </a:extLst>
          </p:cNvPr>
          <p:cNvSpPr txBox="1">
            <a:spLocks/>
          </p:cNvSpPr>
          <p:nvPr/>
        </p:nvSpPr>
        <p:spPr>
          <a:xfrm>
            <a:off x="1197868" y="252851"/>
            <a:ext cx="10646940" cy="788731"/>
          </a:xfrm>
          <a:prstGeom prst="rect">
            <a:avLst/>
          </a:prstGeom>
        </p:spPr>
        <p:txBody>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r>
              <a:rPr lang="en-US" sz="4000" b="1" dirty="0"/>
              <a:t>NEURAL NETWORKS VS </a:t>
            </a:r>
          </a:p>
          <a:p>
            <a:r>
              <a:rPr lang="en-US" sz="4000" b="1" dirty="0"/>
              <a:t>TRADITION MACHINE LEARNING</a:t>
            </a:r>
          </a:p>
        </p:txBody>
      </p:sp>
      <p:sp>
        <p:nvSpPr>
          <p:cNvPr id="5" name="TextBox 4">
            <a:extLst>
              <a:ext uri="{FF2B5EF4-FFF2-40B4-BE49-F238E27FC236}">
                <a16:creationId xmlns:a16="http://schemas.microsoft.com/office/drawing/2014/main" id="{4B5D5B9E-79A0-272B-2A4D-02D54B0E1072}"/>
              </a:ext>
            </a:extLst>
          </p:cNvPr>
          <p:cNvSpPr txBox="1"/>
          <p:nvPr/>
        </p:nvSpPr>
        <p:spPr>
          <a:xfrm>
            <a:off x="1197868" y="1556792"/>
            <a:ext cx="6120680" cy="1938992"/>
          </a:xfrm>
          <a:prstGeom prst="rect">
            <a:avLst/>
          </a:prstGeom>
          <a:noFill/>
        </p:spPr>
        <p:txBody>
          <a:bodyPr wrap="square" rtlCol="0">
            <a:spAutoFit/>
          </a:bodyPr>
          <a:lstStyle/>
          <a:p>
            <a:r>
              <a:rPr lang="en-US" altLang="en-US" sz="2000" dirty="0">
                <a:solidFill>
                  <a:schemeClr val="tx2"/>
                </a:solidFill>
                <a:ea typeface="ADLaM Display" panose="02010000000000000000" pitchFamily="2" charset="0"/>
                <a:cs typeface="ADLaM Display" panose="02010000000000000000" pitchFamily="2" charset="0"/>
              </a:rPr>
              <a:t>While both deep learning (neural networks) and traditional machine learning aim to learn from data, they differ significantly in their approaches, capabilities, and ideal use cases. Understanding these distinctions is crucial for selecting the right model for a given problem.</a:t>
            </a:r>
          </a:p>
          <a:p>
            <a:endParaRPr lang="en-AE" sz="2000" dirty="0"/>
          </a:p>
        </p:txBody>
      </p:sp>
      <p:pic>
        <p:nvPicPr>
          <p:cNvPr id="7" name="Picture 6" descr="A screenshot of a game&#10;&#10;AI-generated content may be incorrect.">
            <a:extLst>
              <a:ext uri="{FF2B5EF4-FFF2-40B4-BE49-F238E27FC236}">
                <a16:creationId xmlns:a16="http://schemas.microsoft.com/office/drawing/2014/main" id="{9D8D4523-4955-B8CA-4299-C29075AD9D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02724" y="404664"/>
            <a:ext cx="2789598" cy="3060189"/>
          </a:xfrm>
          <a:prstGeom prst="rect">
            <a:avLst/>
          </a:prstGeom>
        </p:spPr>
      </p:pic>
      <p:pic>
        <p:nvPicPr>
          <p:cNvPr id="10" name="Picture 9" descr="A group of dots in different colors&#10;&#10;AI-generated content may be incorrect.">
            <a:extLst>
              <a:ext uri="{FF2B5EF4-FFF2-40B4-BE49-F238E27FC236}">
                <a16:creationId xmlns:a16="http://schemas.microsoft.com/office/drawing/2014/main" id="{C79A66DC-9422-9877-35F1-A3627FC593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50655" y="3812636"/>
            <a:ext cx="3225257" cy="2280357"/>
          </a:xfrm>
          <a:prstGeom prst="rect">
            <a:avLst/>
          </a:prstGeom>
        </p:spPr>
      </p:pic>
      <p:sp>
        <p:nvSpPr>
          <p:cNvPr id="11" name="TextBox 10">
            <a:extLst>
              <a:ext uri="{FF2B5EF4-FFF2-40B4-BE49-F238E27FC236}">
                <a16:creationId xmlns:a16="http://schemas.microsoft.com/office/drawing/2014/main" id="{1EC378F4-EB2D-7A5D-C55C-BBAC0E52CA03}"/>
              </a:ext>
            </a:extLst>
          </p:cNvPr>
          <p:cNvSpPr txBox="1"/>
          <p:nvPr/>
        </p:nvSpPr>
        <p:spPr>
          <a:xfrm>
            <a:off x="8732441" y="5930116"/>
            <a:ext cx="3112367" cy="523220"/>
          </a:xfrm>
          <a:prstGeom prst="rect">
            <a:avLst/>
          </a:prstGeom>
          <a:noFill/>
        </p:spPr>
        <p:txBody>
          <a:bodyPr wrap="square" rtlCol="0">
            <a:spAutoFit/>
          </a:bodyPr>
          <a:lstStyle/>
          <a:p>
            <a:r>
              <a:rPr lang="en-US" sz="2800" b="1" dirty="0">
                <a:solidFill>
                  <a:schemeClr val="tx2"/>
                </a:solidFill>
              </a:rPr>
              <a:t>NEURAL NETWORK</a:t>
            </a:r>
            <a:endParaRPr lang="en-AE" sz="2800" b="1" dirty="0">
              <a:solidFill>
                <a:schemeClr val="tx2"/>
              </a:solidFill>
            </a:endParaRPr>
          </a:p>
        </p:txBody>
      </p:sp>
      <p:sp>
        <p:nvSpPr>
          <p:cNvPr id="12" name="TextBox 11">
            <a:extLst>
              <a:ext uri="{FF2B5EF4-FFF2-40B4-BE49-F238E27FC236}">
                <a16:creationId xmlns:a16="http://schemas.microsoft.com/office/drawing/2014/main" id="{DFCFC0CE-822D-DBE1-25B7-27595B248F40}"/>
              </a:ext>
            </a:extLst>
          </p:cNvPr>
          <p:cNvSpPr txBox="1"/>
          <p:nvPr/>
        </p:nvSpPr>
        <p:spPr>
          <a:xfrm>
            <a:off x="9040765" y="3383414"/>
            <a:ext cx="2445035" cy="523220"/>
          </a:xfrm>
          <a:prstGeom prst="rect">
            <a:avLst/>
          </a:prstGeom>
          <a:noFill/>
        </p:spPr>
        <p:txBody>
          <a:bodyPr wrap="square" rtlCol="0">
            <a:spAutoFit/>
          </a:bodyPr>
          <a:lstStyle/>
          <a:p>
            <a:r>
              <a:rPr lang="en-US" sz="2800" b="1" dirty="0">
                <a:solidFill>
                  <a:schemeClr val="tx2"/>
                </a:solidFill>
              </a:rPr>
              <a:t>DECISION TREE</a:t>
            </a:r>
            <a:endParaRPr lang="en-AE" sz="2800" b="1" dirty="0">
              <a:solidFill>
                <a:schemeClr val="tx2"/>
              </a:solidFill>
            </a:endParaRPr>
          </a:p>
        </p:txBody>
      </p:sp>
    </p:spTree>
    <p:extLst>
      <p:ext uri="{BB962C8B-B14F-4D97-AF65-F5344CB8AC3E}">
        <p14:creationId xmlns:p14="http://schemas.microsoft.com/office/powerpoint/2010/main" val="953015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66581" y="450684"/>
            <a:ext cx="5339952" cy="535444"/>
          </a:xfrm>
          <a:prstGeom prst="rect">
            <a:avLst/>
          </a:prstGeom>
          <a:noFill/>
          <a:ln/>
        </p:spPr>
        <p:txBody>
          <a:bodyPr wrap="none" lIns="0" tIns="0" rIns="0" bIns="0" rtlCol="0" anchor="t"/>
          <a:lstStyle/>
          <a:p>
            <a:pPr>
              <a:lnSpc>
                <a:spcPts val="4207"/>
              </a:lnSpc>
            </a:pPr>
            <a:r>
              <a:rPr lang="en-US" sz="4000" b="1" dirty="0">
                <a:latin typeface="+mj-lt"/>
                <a:ea typeface="ADLaM Display" panose="02010000000000000000" pitchFamily="2" charset="0"/>
                <a:cs typeface="ADLaM Display" panose="02010000000000000000" pitchFamily="2" charset="0"/>
              </a:rPr>
              <a:t>APPLICATIONS &amp; USE CASES</a:t>
            </a:r>
            <a:endParaRPr lang="en-US" sz="4000" dirty="0">
              <a:latin typeface="+mj-lt"/>
              <a:ea typeface="ADLaM Display" panose="02010000000000000000" pitchFamily="2" charset="0"/>
              <a:cs typeface="ADLaM Display" panose="02010000000000000000" pitchFamily="2" charset="0"/>
            </a:endParaRPr>
          </a:p>
        </p:txBody>
      </p:sp>
      <p:sp>
        <p:nvSpPr>
          <p:cNvPr id="3" name="Text 1"/>
          <p:cNvSpPr/>
          <p:nvPr/>
        </p:nvSpPr>
        <p:spPr>
          <a:xfrm>
            <a:off x="1357723" y="1088890"/>
            <a:ext cx="7150875" cy="3321376"/>
          </a:xfrm>
          <a:prstGeom prst="rect">
            <a:avLst/>
          </a:prstGeom>
          <a:noFill/>
          <a:ln/>
        </p:spPr>
        <p:txBody>
          <a:bodyPr wrap="none" lIns="0" tIns="0" rIns="0" bIns="0" rtlCol="0" anchor="t"/>
          <a:lstStyle/>
          <a:p>
            <a:pPr>
              <a:lnSpc>
                <a:spcPts val="2124"/>
              </a:lnSpc>
            </a:pP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8710" y="2050089"/>
            <a:ext cx="428315" cy="428315"/>
          </a:xfrm>
          <a:prstGeom prst="rect">
            <a:avLst/>
          </a:prstGeom>
        </p:spPr>
      </p:pic>
      <p:sp>
        <p:nvSpPr>
          <p:cNvPr id="5" name="Text 2"/>
          <p:cNvSpPr/>
          <p:nvPr/>
        </p:nvSpPr>
        <p:spPr>
          <a:xfrm>
            <a:off x="1691182" y="2151761"/>
            <a:ext cx="2141972" cy="267623"/>
          </a:xfrm>
          <a:prstGeom prst="rect">
            <a:avLst/>
          </a:prstGeom>
          <a:noFill/>
          <a:ln/>
        </p:spPr>
        <p:txBody>
          <a:bodyPr wrap="none" lIns="0" tIns="0" rIns="0" bIns="0" rtlCol="0" anchor="t"/>
          <a:lstStyle/>
          <a:p>
            <a:pPr>
              <a:lnSpc>
                <a:spcPts val="2082"/>
              </a:lnSpc>
            </a:pPr>
            <a:r>
              <a:rPr lang="en-US" sz="2000" b="1" dirty="0">
                <a:latin typeface="+mj-lt"/>
                <a:ea typeface="ADLaM Display" panose="02010000000000000000" pitchFamily="2" charset="0"/>
                <a:cs typeface="ADLaM Display" panose="02010000000000000000" pitchFamily="2" charset="0"/>
              </a:rPr>
              <a:t>IMAGE RECOGNITION</a:t>
            </a:r>
          </a:p>
        </p:txBody>
      </p:sp>
      <p:sp>
        <p:nvSpPr>
          <p:cNvPr id="6" name="Text 3"/>
          <p:cNvSpPr/>
          <p:nvPr/>
        </p:nvSpPr>
        <p:spPr>
          <a:xfrm>
            <a:off x="1691182" y="2522147"/>
            <a:ext cx="4745092" cy="822508"/>
          </a:xfrm>
          <a:prstGeom prst="rect">
            <a:avLst/>
          </a:prstGeom>
          <a:noFill/>
          <a:ln/>
        </p:spPr>
        <p:txBody>
          <a:bodyPr wrap="square" lIns="0" tIns="0" rIns="0" bIns="0" rtlCol="0" anchor="t"/>
          <a:lstStyle/>
          <a:p>
            <a:pPr>
              <a:lnSpc>
                <a:spcPts val="2124"/>
              </a:lnSpc>
            </a:pPr>
            <a:r>
              <a:rPr lang="en-US" sz="1700" dirty="0">
                <a:ea typeface="ADLaM Display" panose="02010000000000000000" pitchFamily="2" charset="0"/>
                <a:cs typeface="ADLaM Display" panose="02010000000000000000" pitchFamily="2" charset="0"/>
              </a:rPr>
              <a:t>Enabling computers to identify and classify objects, faces, and scenes in images and videos, crucial for security, medical imaging, and retail.</a:t>
            </a:r>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50431" y="2050089"/>
            <a:ext cx="428315" cy="428315"/>
          </a:xfrm>
          <a:prstGeom prst="rect">
            <a:avLst/>
          </a:prstGeom>
        </p:spPr>
      </p:pic>
      <p:sp>
        <p:nvSpPr>
          <p:cNvPr id="8" name="Text 4"/>
          <p:cNvSpPr/>
          <p:nvPr/>
        </p:nvSpPr>
        <p:spPr>
          <a:xfrm>
            <a:off x="7279855" y="2050089"/>
            <a:ext cx="3074286" cy="267623"/>
          </a:xfrm>
          <a:prstGeom prst="rect">
            <a:avLst/>
          </a:prstGeom>
          <a:noFill/>
          <a:ln/>
        </p:spPr>
        <p:txBody>
          <a:bodyPr wrap="none" lIns="0" tIns="0" rIns="0" bIns="0" rtlCol="0" anchor="t"/>
          <a:lstStyle/>
          <a:p>
            <a:pPr>
              <a:lnSpc>
                <a:spcPts val="2082"/>
              </a:lnSpc>
            </a:pPr>
            <a:r>
              <a:rPr lang="en-US" sz="2000" b="1" dirty="0">
                <a:latin typeface="+mj-lt"/>
                <a:ea typeface="ADLaM Display" panose="02010000000000000000" pitchFamily="2" charset="0"/>
                <a:cs typeface="ADLaM Display" panose="02010000000000000000" pitchFamily="2" charset="0"/>
              </a:rPr>
              <a:t>Natural Language Processing</a:t>
            </a:r>
          </a:p>
        </p:txBody>
      </p:sp>
      <p:sp>
        <p:nvSpPr>
          <p:cNvPr id="9" name="Text 5"/>
          <p:cNvSpPr/>
          <p:nvPr/>
        </p:nvSpPr>
        <p:spPr>
          <a:xfrm>
            <a:off x="7279855" y="2420475"/>
            <a:ext cx="4745191" cy="822508"/>
          </a:xfrm>
          <a:prstGeom prst="rect">
            <a:avLst/>
          </a:prstGeom>
          <a:noFill/>
          <a:ln/>
        </p:spPr>
        <p:txBody>
          <a:bodyPr wrap="square" lIns="0" tIns="0" rIns="0" bIns="0" rtlCol="0" anchor="t"/>
          <a:lstStyle/>
          <a:p>
            <a:pPr>
              <a:lnSpc>
                <a:spcPts val="2124"/>
              </a:lnSpc>
            </a:pPr>
            <a:r>
              <a:rPr lang="en-US" sz="1700" dirty="0">
                <a:ea typeface="ADLaM Display" panose="02010000000000000000" pitchFamily="2" charset="0"/>
                <a:cs typeface="ADLaM Display" panose="02010000000000000000" pitchFamily="2" charset="0"/>
              </a:rPr>
              <a:t>Facilitating human-computer interaction through sentiment analysis, machine translation, chatbots, and voice assistants.</a:t>
            </a:r>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8710" y="3687367"/>
            <a:ext cx="428315" cy="428315"/>
          </a:xfrm>
          <a:prstGeom prst="rect">
            <a:avLst/>
          </a:prstGeom>
        </p:spPr>
      </p:pic>
      <p:sp>
        <p:nvSpPr>
          <p:cNvPr id="11" name="Text 6"/>
          <p:cNvSpPr/>
          <p:nvPr/>
        </p:nvSpPr>
        <p:spPr>
          <a:xfrm>
            <a:off x="1691182" y="3789040"/>
            <a:ext cx="2293638" cy="267623"/>
          </a:xfrm>
          <a:prstGeom prst="rect">
            <a:avLst/>
          </a:prstGeom>
          <a:noFill/>
          <a:ln/>
        </p:spPr>
        <p:txBody>
          <a:bodyPr wrap="none" lIns="0" tIns="0" rIns="0" bIns="0" rtlCol="0" anchor="t"/>
          <a:lstStyle/>
          <a:p>
            <a:pPr>
              <a:lnSpc>
                <a:spcPts val="2082"/>
              </a:lnSpc>
            </a:pPr>
            <a:r>
              <a:rPr lang="en-US" sz="2000" b="1" dirty="0">
                <a:latin typeface="+mj-lt"/>
                <a:ea typeface="ADLaM Display" panose="02010000000000000000" pitchFamily="2" charset="0"/>
                <a:cs typeface="ADLaM Display" panose="02010000000000000000" pitchFamily="2" charset="0"/>
              </a:rPr>
              <a:t>AUTONOMOUS VEHICLES</a:t>
            </a:r>
          </a:p>
        </p:txBody>
      </p:sp>
      <p:sp>
        <p:nvSpPr>
          <p:cNvPr id="12" name="Text 7"/>
          <p:cNvSpPr/>
          <p:nvPr/>
        </p:nvSpPr>
        <p:spPr>
          <a:xfrm>
            <a:off x="1691182" y="4159425"/>
            <a:ext cx="4745092" cy="822508"/>
          </a:xfrm>
          <a:prstGeom prst="rect">
            <a:avLst/>
          </a:prstGeom>
          <a:noFill/>
          <a:ln/>
        </p:spPr>
        <p:txBody>
          <a:bodyPr wrap="square" lIns="0" tIns="0" rIns="0" bIns="0" rtlCol="0" anchor="t"/>
          <a:lstStyle/>
          <a:p>
            <a:pPr>
              <a:lnSpc>
                <a:spcPts val="2124"/>
              </a:lnSpc>
            </a:pPr>
            <a:r>
              <a:rPr lang="en-US" sz="1700" dirty="0">
                <a:ea typeface="ADLaM Display" panose="02010000000000000000" pitchFamily="2" charset="0"/>
                <a:cs typeface="ADLaM Display" panose="02010000000000000000" pitchFamily="2" charset="0"/>
              </a:rPr>
              <a:t>Driving perception, decision-making, and control systems in self-driving cars, making transportation safer and more efficient.</a:t>
            </a:r>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50431" y="3687367"/>
            <a:ext cx="428315" cy="428315"/>
          </a:xfrm>
          <a:prstGeom prst="rect">
            <a:avLst/>
          </a:prstGeom>
        </p:spPr>
      </p:pic>
      <p:sp>
        <p:nvSpPr>
          <p:cNvPr id="14" name="Text 8"/>
          <p:cNvSpPr/>
          <p:nvPr/>
        </p:nvSpPr>
        <p:spPr>
          <a:xfrm>
            <a:off x="7292903" y="3789040"/>
            <a:ext cx="2141972" cy="267623"/>
          </a:xfrm>
          <a:prstGeom prst="rect">
            <a:avLst/>
          </a:prstGeom>
          <a:noFill/>
          <a:ln/>
        </p:spPr>
        <p:txBody>
          <a:bodyPr wrap="none" lIns="0" tIns="0" rIns="0" bIns="0" rtlCol="0" anchor="t"/>
          <a:lstStyle/>
          <a:p>
            <a:pPr>
              <a:lnSpc>
                <a:spcPts val="2082"/>
              </a:lnSpc>
            </a:pPr>
            <a:r>
              <a:rPr lang="en-US" sz="2000" b="1" dirty="0">
                <a:latin typeface="+mj-lt"/>
                <a:ea typeface="ADLaM Display" panose="02010000000000000000" pitchFamily="2" charset="0"/>
                <a:cs typeface="ADLaM Display" panose="02010000000000000000" pitchFamily="2" charset="0"/>
              </a:rPr>
              <a:t>MEDICAL DIAGNOSIS</a:t>
            </a:r>
          </a:p>
        </p:txBody>
      </p:sp>
      <p:sp>
        <p:nvSpPr>
          <p:cNvPr id="15" name="Text 9"/>
          <p:cNvSpPr/>
          <p:nvPr/>
        </p:nvSpPr>
        <p:spPr>
          <a:xfrm>
            <a:off x="7292903" y="4159425"/>
            <a:ext cx="4745191" cy="822508"/>
          </a:xfrm>
          <a:prstGeom prst="rect">
            <a:avLst/>
          </a:prstGeom>
          <a:noFill/>
          <a:ln/>
        </p:spPr>
        <p:txBody>
          <a:bodyPr wrap="square" lIns="0" tIns="0" rIns="0" bIns="0" rtlCol="0" anchor="t"/>
          <a:lstStyle/>
          <a:p>
            <a:pPr>
              <a:lnSpc>
                <a:spcPts val="2124"/>
              </a:lnSpc>
            </a:pPr>
            <a:r>
              <a:rPr lang="en-US" sz="1700" dirty="0">
                <a:ea typeface="ADLaM Display" panose="02010000000000000000" pitchFamily="2" charset="0"/>
                <a:cs typeface="ADLaM Display" panose="02010000000000000000" pitchFamily="2" charset="0"/>
              </a:rPr>
              <a:t>Assisting healthcare professionals in detecting diseases like cancer, analyzing medical images, and predicting patient outcomes.</a:t>
            </a:r>
          </a:p>
        </p:txBody>
      </p:sp>
      <p:pic>
        <p:nvPicPr>
          <p:cNvPr id="1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48710" y="5324646"/>
            <a:ext cx="428315" cy="428315"/>
          </a:xfrm>
          <a:prstGeom prst="rect">
            <a:avLst/>
          </a:prstGeom>
        </p:spPr>
      </p:pic>
      <p:sp>
        <p:nvSpPr>
          <p:cNvPr id="17" name="Text 10"/>
          <p:cNvSpPr/>
          <p:nvPr/>
        </p:nvSpPr>
        <p:spPr>
          <a:xfrm>
            <a:off x="1691182" y="5426318"/>
            <a:ext cx="2794364" cy="267623"/>
          </a:xfrm>
          <a:prstGeom prst="rect">
            <a:avLst/>
          </a:prstGeom>
          <a:noFill/>
          <a:ln/>
        </p:spPr>
        <p:txBody>
          <a:bodyPr wrap="none" lIns="0" tIns="0" rIns="0" bIns="0" rtlCol="0" anchor="t"/>
          <a:lstStyle/>
          <a:p>
            <a:pPr>
              <a:lnSpc>
                <a:spcPts val="2082"/>
              </a:lnSpc>
            </a:pPr>
            <a:r>
              <a:rPr lang="en-US" sz="2000" b="1" dirty="0">
                <a:latin typeface="+mj-lt"/>
                <a:ea typeface="ADLaM Display" panose="02010000000000000000" pitchFamily="2" charset="0"/>
                <a:cs typeface="ADLaM Display" panose="02010000000000000000" pitchFamily="2" charset="0"/>
              </a:rPr>
              <a:t>RECOMMENDATION SYSTEMS</a:t>
            </a:r>
          </a:p>
        </p:txBody>
      </p:sp>
      <p:sp>
        <p:nvSpPr>
          <p:cNvPr id="18" name="Text 11"/>
          <p:cNvSpPr/>
          <p:nvPr/>
        </p:nvSpPr>
        <p:spPr>
          <a:xfrm>
            <a:off x="1691182" y="5796704"/>
            <a:ext cx="4745092" cy="822508"/>
          </a:xfrm>
          <a:prstGeom prst="rect">
            <a:avLst/>
          </a:prstGeom>
          <a:noFill/>
          <a:ln/>
        </p:spPr>
        <p:txBody>
          <a:bodyPr wrap="square" lIns="0" tIns="0" rIns="0" bIns="0" rtlCol="0" anchor="t"/>
          <a:lstStyle/>
          <a:p>
            <a:pPr>
              <a:lnSpc>
                <a:spcPts val="2124"/>
              </a:lnSpc>
            </a:pPr>
            <a:r>
              <a:rPr lang="en-US" sz="1700" dirty="0">
                <a:ea typeface="ADLaM Display" panose="02010000000000000000" pitchFamily="2" charset="0"/>
                <a:cs typeface="ADLaM Display" panose="02010000000000000000" pitchFamily="2" charset="0"/>
              </a:rPr>
              <a:t>Personalizing user experiences on platforms like Netflix, Amazon, and Spotify by suggesting relevant products or content.</a:t>
            </a:r>
          </a:p>
        </p:txBody>
      </p:sp>
      <p:pic>
        <p:nvPicPr>
          <p:cNvPr id="1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50431" y="5324646"/>
            <a:ext cx="428315" cy="428315"/>
          </a:xfrm>
          <a:prstGeom prst="rect">
            <a:avLst/>
          </a:prstGeom>
        </p:spPr>
      </p:pic>
      <p:sp>
        <p:nvSpPr>
          <p:cNvPr id="20" name="Text 12"/>
          <p:cNvSpPr/>
          <p:nvPr/>
        </p:nvSpPr>
        <p:spPr>
          <a:xfrm>
            <a:off x="7292903" y="5426318"/>
            <a:ext cx="2654303" cy="267623"/>
          </a:xfrm>
          <a:prstGeom prst="rect">
            <a:avLst/>
          </a:prstGeom>
          <a:noFill/>
          <a:ln/>
        </p:spPr>
        <p:txBody>
          <a:bodyPr wrap="none" lIns="0" tIns="0" rIns="0" bIns="0" rtlCol="0" anchor="t"/>
          <a:lstStyle/>
          <a:p>
            <a:pPr>
              <a:lnSpc>
                <a:spcPts val="2082"/>
              </a:lnSpc>
            </a:pPr>
            <a:r>
              <a:rPr lang="en-US" sz="2000" b="1" dirty="0">
                <a:latin typeface="+mj-lt"/>
                <a:ea typeface="ADLaM Display" panose="02010000000000000000" pitchFamily="2" charset="0"/>
                <a:cs typeface="ADLaM Display" panose="02010000000000000000" pitchFamily="2" charset="0"/>
              </a:rPr>
              <a:t>FINANCIAL FRAUD DETECTION</a:t>
            </a:r>
          </a:p>
        </p:txBody>
      </p:sp>
      <p:sp>
        <p:nvSpPr>
          <p:cNvPr id="21" name="Text 13"/>
          <p:cNvSpPr/>
          <p:nvPr/>
        </p:nvSpPr>
        <p:spPr>
          <a:xfrm>
            <a:off x="7292903" y="5796704"/>
            <a:ext cx="4745191" cy="548339"/>
          </a:xfrm>
          <a:prstGeom prst="rect">
            <a:avLst/>
          </a:prstGeom>
          <a:noFill/>
          <a:ln/>
        </p:spPr>
        <p:txBody>
          <a:bodyPr wrap="square" lIns="0" tIns="0" rIns="0" bIns="0" rtlCol="0" anchor="t"/>
          <a:lstStyle/>
          <a:p>
            <a:pPr>
              <a:lnSpc>
                <a:spcPts val="2124"/>
              </a:lnSpc>
            </a:pPr>
            <a:r>
              <a:rPr lang="en-US" sz="1700" dirty="0">
                <a:ea typeface="ADLaM Display" panose="02010000000000000000" pitchFamily="2" charset="0"/>
                <a:cs typeface="ADLaM Display" panose="02010000000000000000" pitchFamily="2" charset="0"/>
              </a:rPr>
              <a:t>Identifying unusual patterns and anomalies in financial transactions to prevent fraud and protect sensitive data.</a:t>
            </a:r>
          </a:p>
        </p:txBody>
      </p:sp>
      <p:sp>
        <p:nvSpPr>
          <p:cNvPr id="22" name="TextBox 21">
            <a:extLst>
              <a:ext uri="{FF2B5EF4-FFF2-40B4-BE49-F238E27FC236}">
                <a16:creationId xmlns:a16="http://schemas.microsoft.com/office/drawing/2014/main" id="{EC12AAEE-E5CA-5906-8B28-6613D4224CA5}"/>
              </a:ext>
            </a:extLst>
          </p:cNvPr>
          <p:cNvSpPr txBox="1"/>
          <p:nvPr/>
        </p:nvSpPr>
        <p:spPr>
          <a:xfrm>
            <a:off x="1021301" y="1113476"/>
            <a:ext cx="9681623" cy="923330"/>
          </a:xfrm>
          <a:prstGeom prst="rect">
            <a:avLst/>
          </a:prstGeom>
          <a:noFill/>
        </p:spPr>
        <p:txBody>
          <a:bodyPr wrap="square" rtlCol="0">
            <a:spAutoFit/>
          </a:bodyPr>
          <a:lstStyle/>
          <a:p>
            <a:r>
              <a:rPr lang="en-US" sz="1800" dirty="0">
                <a:ea typeface="ADLaM Display" panose="02010000000000000000" pitchFamily="2" charset="0"/>
                <a:cs typeface="ADLaM Display" panose="02010000000000000000" pitchFamily="2" charset="0"/>
              </a:rPr>
              <a:t>Neural networks are at the forefront of innovation, powering a diverse range of applications across industries.</a:t>
            </a:r>
          </a:p>
          <a:p>
            <a:endParaRPr lang="en-AE" sz="1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559FC71-D284-0F9A-2079-962D8311190E}"/>
              </a:ext>
            </a:extLst>
          </p:cNvPr>
          <p:cNvSpPr/>
          <p:nvPr/>
        </p:nvSpPr>
        <p:spPr>
          <a:xfrm>
            <a:off x="1366581" y="445284"/>
            <a:ext cx="5339952" cy="535444"/>
          </a:xfrm>
          <a:prstGeom prst="rect">
            <a:avLst/>
          </a:prstGeom>
          <a:noFill/>
          <a:ln/>
        </p:spPr>
        <p:txBody>
          <a:bodyPr wrap="none" lIns="0" tIns="0" rIns="0" bIns="0" rtlCol="0" anchor="t"/>
          <a:lstStyle/>
          <a:p>
            <a:pPr>
              <a:lnSpc>
                <a:spcPts val="4207"/>
              </a:lnSpc>
            </a:pPr>
            <a:r>
              <a:rPr lang="en-US" sz="4000" b="1" dirty="0">
                <a:latin typeface="+mj-lt"/>
                <a:ea typeface="ADLaM Display" panose="02010000000000000000" pitchFamily="2" charset="0"/>
                <a:cs typeface="ADLaM Display" panose="02010000000000000000" pitchFamily="2" charset="0"/>
              </a:rPr>
              <a:t>ADVANTAGES &amp; LIMITATIONS</a:t>
            </a:r>
          </a:p>
        </p:txBody>
      </p:sp>
      <p:sp>
        <p:nvSpPr>
          <p:cNvPr id="3" name="TextBox 2">
            <a:extLst>
              <a:ext uri="{FF2B5EF4-FFF2-40B4-BE49-F238E27FC236}">
                <a16:creationId xmlns:a16="http://schemas.microsoft.com/office/drawing/2014/main" id="{D463B945-2349-7491-56D9-4B8130D503AA}"/>
              </a:ext>
            </a:extLst>
          </p:cNvPr>
          <p:cNvSpPr txBox="1"/>
          <p:nvPr/>
        </p:nvSpPr>
        <p:spPr>
          <a:xfrm>
            <a:off x="981844" y="1189201"/>
            <a:ext cx="10873208" cy="1015663"/>
          </a:xfrm>
          <a:prstGeom prst="rect">
            <a:avLst/>
          </a:prstGeom>
          <a:noFill/>
        </p:spPr>
        <p:txBody>
          <a:bodyPr wrap="square" rtlCol="0">
            <a:spAutoFit/>
          </a:bodyPr>
          <a:lstStyle/>
          <a:p>
            <a:r>
              <a:rPr lang="en-US" sz="2000" dirty="0">
                <a:solidFill>
                  <a:schemeClr val="tx2"/>
                </a:solidFill>
                <a:ea typeface="ADLaM Display" panose="02010000000000000000" pitchFamily="2" charset="0"/>
                <a:cs typeface="ADLaM Display" panose="02010000000000000000" pitchFamily="2" charset="0"/>
              </a:rPr>
              <a:t>Neural networks offer powerful capabilities but also come with significant challenges that need to be considered for their effective deployment.</a:t>
            </a:r>
          </a:p>
          <a:p>
            <a:endParaRPr lang="en-AE" sz="2000" dirty="0">
              <a:solidFill>
                <a:schemeClr val="tx2"/>
              </a:solidFill>
            </a:endParaRPr>
          </a:p>
        </p:txBody>
      </p:sp>
      <p:sp>
        <p:nvSpPr>
          <p:cNvPr id="4" name="TextBox 3">
            <a:extLst>
              <a:ext uri="{FF2B5EF4-FFF2-40B4-BE49-F238E27FC236}">
                <a16:creationId xmlns:a16="http://schemas.microsoft.com/office/drawing/2014/main" id="{ABDD8594-9524-E285-D20C-48160FD0CD7F}"/>
              </a:ext>
            </a:extLst>
          </p:cNvPr>
          <p:cNvSpPr txBox="1"/>
          <p:nvPr/>
        </p:nvSpPr>
        <p:spPr>
          <a:xfrm>
            <a:off x="837828" y="2010572"/>
            <a:ext cx="5652681" cy="4401205"/>
          </a:xfrm>
          <a:prstGeom prst="rect">
            <a:avLst/>
          </a:prstGeom>
          <a:noFill/>
        </p:spPr>
        <p:txBody>
          <a:bodyPr wrap="square" rtlCol="0">
            <a:spAutoFit/>
          </a:bodyPr>
          <a:lstStyle/>
          <a:p>
            <a:pPr marL="342797" indent="-342797">
              <a:buFont typeface="Wingdings" panose="05000000000000000000" pitchFamily="2" charset="2"/>
              <a:buChar char="§"/>
            </a:pPr>
            <a:r>
              <a:rPr lang="en-US" sz="2000" b="1" dirty="0">
                <a:ea typeface="ADLaM Display" panose="02010000000000000000" pitchFamily="2" charset="0"/>
                <a:cs typeface="ADLaM Display" panose="02010000000000000000" pitchFamily="2" charset="0"/>
              </a:rPr>
              <a:t>ADVANTAGES</a:t>
            </a:r>
          </a:p>
          <a:p>
            <a:pPr marL="952393" lvl="1" indent="-342900">
              <a:buFont typeface="Arial" panose="020B0604020202020204" pitchFamily="34" charset="0"/>
              <a:buChar char="•"/>
            </a:pPr>
            <a:r>
              <a:rPr lang="en-US" sz="2000" b="1" dirty="0">
                <a:solidFill>
                  <a:schemeClr val="tx2"/>
                </a:solidFill>
                <a:ea typeface="ADLaM Display" panose="02010000000000000000" pitchFamily="2" charset="0"/>
                <a:cs typeface="ADLaM Display" panose="02010000000000000000" pitchFamily="2" charset="0"/>
              </a:rPr>
              <a:t>Exceptional Pattern: Recognition:</a:t>
            </a:r>
            <a:r>
              <a:rPr lang="en-US" sz="2000" dirty="0">
                <a:solidFill>
                  <a:schemeClr val="tx2"/>
                </a:solidFill>
                <a:ea typeface="ADLaM Display" panose="02010000000000000000" pitchFamily="2" charset="0"/>
                <a:cs typeface="ADLaM Display" panose="02010000000000000000" pitchFamily="2" charset="0"/>
              </a:rPr>
              <a:t> Excel at identifying complex, non-linear patterns in vast datasets.</a:t>
            </a:r>
          </a:p>
          <a:p>
            <a:pPr marL="952393" lvl="1" indent="-342900">
              <a:buFont typeface="Arial" panose="020B0604020202020204" pitchFamily="34" charset="0"/>
              <a:buChar char="•"/>
            </a:pPr>
            <a:r>
              <a:rPr lang="en-US" sz="2000" b="1" dirty="0">
                <a:solidFill>
                  <a:schemeClr val="tx2"/>
                </a:solidFill>
                <a:ea typeface="ADLaM Display" panose="02010000000000000000" pitchFamily="2" charset="0"/>
                <a:cs typeface="ADLaM Display" panose="02010000000000000000" pitchFamily="2" charset="0"/>
              </a:rPr>
              <a:t>Scalability with Data:</a:t>
            </a:r>
            <a:r>
              <a:rPr lang="en-US" sz="2000" dirty="0">
                <a:solidFill>
                  <a:schemeClr val="tx2"/>
                </a:solidFill>
                <a:ea typeface="ADLaM Display" panose="02010000000000000000" pitchFamily="2" charset="0"/>
                <a:cs typeface="ADLaM Display" panose="02010000000000000000" pitchFamily="2" charset="0"/>
              </a:rPr>
              <a:t> Performance generally improves with more data and increased computational power.</a:t>
            </a:r>
          </a:p>
          <a:p>
            <a:pPr marL="952393" lvl="1" indent="-342900">
              <a:buFont typeface="Arial" panose="020B0604020202020204" pitchFamily="34" charset="0"/>
              <a:buChar char="•"/>
            </a:pPr>
            <a:r>
              <a:rPr lang="en-US" sz="2000" b="1" dirty="0">
                <a:solidFill>
                  <a:schemeClr val="tx2"/>
                </a:solidFill>
                <a:ea typeface="ADLaM Display" panose="02010000000000000000" pitchFamily="2" charset="0"/>
                <a:cs typeface="ADLaM Display" panose="02010000000000000000" pitchFamily="2" charset="0"/>
              </a:rPr>
              <a:t>High Versatility:</a:t>
            </a:r>
            <a:r>
              <a:rPr lang="en-US" sz="2000" dirty="0">
                <a:solidFill>
                  <a:schemeClr val="tx2"/>
                </a:solidFill>
                <a:ea typeface="ADLaM Display" panose="02010000000000000000" pitchFamily="2" charset="0"/>
                <a:cs typeface="ADLaM Display" panose="02010000000000000000" pitchFamily="2" charset="0"/>
              </a:rPr>
              <a:t> Applicable across diverse domains, including image processing, natural language, and predictive analytics.</a:t>
            </a:r>
          </a:p>
          <a:p>
            <a:pPr marL="952393" lvl="1" indent="-342900">
              <a:buFont typeface="Arial" panose="020B0604020202020204" pitchFamily="34" charset="0"/>
              <a:buChar char="•"/>
            </a:pPr>
            <a:r>
              <a:rPr lang="en-US" sz="2000" b="1" dirty="0">
                <a:solidFill>
                  <a:schemeClr val="tx2"/>
                </a:solidFill>
              </a:rPr>
              <a:t>Automatic Feature Extraction:</a:t>
            </a:r>
            <a:r>
              <a:rPr lang="en-US" sz="2000" dirty="0">
                <a:solidFill>
                  <a:schemeClr val="tx2"/>
                </a:solidFill>
              </a:rPr>
              <a:t> Neural networks can automatically learn and extract relevant features from raw data.</a:t>
            </a:r>
            <a:endParaRPr lang="en-US" sz="2000" b="1" dirty="0">
              <a:solidFill>
                <a:schemeClr val="tx2"/>
              </a:solidFill>
              <a:ea typeface="ADLaM Display" panose="02010000000000000000" pitchFamily="2" charset="0"/>
              <a:cs typeface="ADLaM Display" panose="02010000000000000000" pitchFamily="2" charset="0"/>
            </a:endParaRPr>
          </a:p>
          <a:p>
            <a:endParaRPr lang="en-AE" sz="2000" dirty="0">
              <a:solidFill>
                <a:schemeClr val="tx2"/>
              </a:solidFill>
            </a:endParaRPr>
          </a:p>
        </p:txBody>
      </p:sp>
      <p:sp>
        <p:nvSpPr>
          <p:cNvPr id="6" name="TextBox 5">
            <a:extLst>
              <a:ext uri="{FF2B5EF4-FFF2-40B4-BE49-F238E27FC236}">
                <a16:creationId xmlns:a16="http://schemas.microsoft.com/office/drawing/2014/main" id="{7E66362F-515F-4053-2FFF-ED178977C043}"/>
              </a:ext>
            </a:extLst>
          </p:cNvPr>
          <p:cNvSpPr txBox="1"/>
          <p:nvPr/>
        </p:nvSpPr>
        <p:spPr>
          <a:xfrm>
            <a:off x="6094412" y="2001791"/>
            <a:ext cx="5904656" cy="4401205"/>
          </a:xfrm>
          <a:prstGeom prst="rect">
            <a:avLst/>
          </a:prstGeom>
          <a:noFill/>
        </p:spPr>
        <p:txBody>
          <a:bodyPr wrap="square" rtlCol="0">
            <a:spAutoFit/>
          </a:bodyPr>
          <a:lstStyle/>
          <a:p>
            <a:pPr marL="342797" indent="-342797">
              <a:buFont typeface="Wingdings" panose="05000000000000000000" pitchFamily="2" charset="2"/>
              <a:buChar char="§"/>
            </a:pPr>
            <a:r>
              <a:rPr lang="en-US" sz="2000" b="1" dirty="0">
                <a:ea typeface="ADLaM Display" panose="02010000000000000000" pitchFamily="2" charset="0"/>
                <a:cs typeface="ADLaM Display" panose="02010000000000000000" pitchFamily="2" charset="0"/>
              </a:rPr>
              <a:t>LIMITATIONS</a:t>
            </a:r>
          </a:p>
          <a:p>
            <a:pPr marL="952290" lvl="1" indent="-342797">
              <a:buFont typeface="Wingdings" panose="05000000000000000000" pitchFamily="2" charset="2"/>
              <a:buChar char="§"/>
            </a:pPr>
            <a:r>
              <a:rPr lang="en-US" sz="2000" b="1" dirty="0">
                <a:solidFill>
                  <a:schemeClr val="tx2"/>
                </a:solidFill>
                <a:ea typeface="ADLaM Display" panose="02010000000000000000" pitchFamily="2" charset="0"/>
                <a:cs typeface="ADLaM Display" panose="02010000000000000000" pitchFamily="2" charset="0"/>
              </a:rPr>
              <a:t>Intensive Data Requirements:</a:t>
            </a:r>
            <a:r>
              <a:rPr lang="en-US" sz="2000" dirty="0">
                <a:solidFill>
                  <a:schemeClr val="tx2"/>
                </a:solidFill>
                <a:ea typeface="ADLaM Display" panose="02010000000000000000" pitchFamily="2" charset="0"/>
                <a:cs typeface="ADLaM Display" panose="02010000000000000000" pitchFamily="2" charset="0"/>
              </a:rPr>
              <a:t> Demand massive, high-quality datasets for effective training and generalization.</a:t>
            </a:r>
          </a:p>
          <a:p>
            <a:pPr marL="952290" lvl="1" indent="-342797">
              <a:buFont typeface="Wingdings" panose="05000000000000000000" pitchFamily="2" charset="2"/>
              <a:buChar char="§"/>
            </a:pPr>
            <a:r>
              <a:rPr lang="en-US" sz="2000" b="1" dirty="0">
                <a:solidFill>
                  <a:schemeClr val="tx2"/>
                </a:solidFill>
                <a:ea typeface="ADLaM Display" panose="02010000000000000000" pitchFamily="2" charset="0"/>
                <a:cs typeface="ADLaM Display" panose="02010000000000000000" pitchFamily="2" charset="0"/>
              </a:rPr>
              <a:t>High Computational Cost:</a:t>
            </a:r>
            <a:r>
              <a:rPr lang="en-US" sz="2000" dirty="0">
                <a:solidFill>
                  <a:schemeClr val="tx2"/>
                </a:solidFill>
                <a:ea typeface="ADLaM Display" panose="02010000000000000000" pitchFamily="2" charset="0"/>
                <a:cs typeface="ADLaM Display" panose="02010000000000000000" pitchFamily="2" charset="0"/>
              </a:rPr>
              <a:t> Training and deployment can be resource-intensive, requiring specialized hardware (GPUs).</a:t>
            </a:r>
          </a:p>
          <a:p>
            <a:pPr marL="952290" lvl="1" indent="-342797">
              <a:buFont typeface="Wingdings" panose="05000000000000000000" pitchFamily="2" charset="2"/>
              <a:buChar char="§"/>
            </a:pPr>
            <a:r>
              <a:rPr lang="en-US" sz="2000" b="1" dirty="0">
                <a:solidFill>
                  <a:schemeClr val="tx2"/>
                </a:solidFill>
                <a:ea typeface="ADLaM Display" panose="02010000000000000000" pitchFamily="2" charset="0"/>
                <a:cs typeface="ADLaM Display" panose="02010000000000000000" pitchFamily="2" charset="0"/>
              </a:rPr>
              <a:t>"Black Box" Interpretability:</a:t>
            </a:r>
            <a:r>
              <a:rPr lang="en-US" sz="2000" dirty="0">
                <a:solidFill>
                  <a:schemeClr val="tx2"/>
                </a:solidFill>
                <a:ea typeface="ADLaM Display" panose="02010000000000000000" pitchFamily="2" charset="0"/>
                <a:cs typeface="ADLaM Display" panose="02010000000000000000" pitchFamily="2" charset="0"/>
              </a:rPr>
              <a:t> Decisions can be difficult to understand or explain, hindering trust and debugging.</a:t>
            </a:r>
          </a:p>
          <a:p>
            <a:pPr marL="952290" lvl="1" indent="-342797">
              <a:buFont typeface="Wingdings" panose="05000000000000000000" pitchFamily="2" charset="2"/>
              <a:buChar char="§"/>
            </a:pPr>
            <a:r>
              <a:rPr lang="en-US" sz="2000" b="1" dirty="0">
                <a:solidFill>
                  <a:schemeClr val="tx2"/>
                </a:solidFill>
                <a:ea typeface="ADLaM Display" panose="02010000000000000000" pitchFamily="2" charset="0"/>
                <a:cs typeface="ADLaM Display" panose="02010000000000000000" pitchFamily="2" charset="0"/>
              </a:rPr>
              <a:t>Risk of Overfitting:</a:t>
            </a:r>
            <a:r>
              <a:rPr lang="en-US" sz="2000" dirty="0">
                <a:solidFill>
                  <a:schemeClr val="tx2"/>
                </a:solidFill>
                <a:ea typeface="ADLaM Display" panose="02010000000000000000" pitchFamily="2" charset="0"/>
                <a:cs typeface="ADLaM Display" panose="02010000000000000000" pitchFamily="2" charset="0"/>
              </a:rPr>
              <a:t> Can memorize training data too well, leading to poor performance on unseen data.</a:t>
            </a:r>
          </a:p>
          <a:p>
            <a:endParaRPr lang="en-AE" sz="2000" dirty="0">
              <a:solidFill>
                <a:schemeClr val="tx2"/>
              </a:solidFill>
            </a:endParaRPr>
          </a:p>
        </p:txBody>
      </p:sp>
    </p:spTree>
    <p:extLst>
      <p:ext uri="{BB962C8B-B14F-4D97-AF65-F5344CB8AC3E}">
        <p14:creationId xmlns:p14="http://schemas.microsoft.com/office/powerpoint/2010/main" val="2270975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8969662-358C-1AF7-76F4-5F7AE414766B}"/>
              </a:ext>
            </a:extLst>
          </p:cNvPr>
          <p:cNvSpPr/>
          <p:nvPr/>
        </p:nvSpPr>
        <p:spPr>
          <a:xfrm>
            <a:off x="1366581" y="445284"/>
            <a:ext cx="5339952" cy="535444"/>
          </a:xfrm>
          <a:prstGeom prst="rect">
            <a:avLst/>
          </a:prstGeom>
          <a:noFill/>
          <a:ln/>
        </p:spPr>
        <p:txBody>
          <a:bodyPr wrap="none" lIns="0" tIns="0" rIns="0" bIns="0" rtlCol="0" anchor="t"/>
          <a:lstStyle/>
          <a:p>
            <a:pPr>
              <a:lnSpc>
                <a:spcPts val="4207"/>
              </a:lnSpc>
            </a:pPr>
            <a:r>
              <a:rPr lang="en-US" sz="4000" b="1" dirty="0">
                <a:latin typeface="+mj-lt"/>
                <a:ea typeface="ADLaM Display" panose="02010000000000000000" pitchFamily="2" charset="0"/>
                <a:cs typeface="ADLaM Display" panose="02010000000000000000" pitchFamily="2" charset="0"/>
              </a:rPr>
              <a:t>POPULAR FRAMEWORKS</a:t>
            </a:r>
          </a:p>
        </p:txBody>
      </p:sp>
      <p:sp>
        <p:nvSpPr>
          <p:cNvPr id="3" name="TextBox 2">
            <a:extLst>
              <a:ext uri="{FF2B5EF4-FFF2-40B4-BE49-F238E27FC236}">
                <a16:creationId xmlns:a16="http://schemas.microsoft.com/office/drawing/2014/main" id="{F4804C0D-059A-59B3-6052-E261EB5D9776}"/>
              </a:ext>
            </a:extLst>
          </p:cNvPr>
          <p:cNvSpPr txBox="1"/>
          <p:nvPr/>
        </p:nvSpPr>
        <p:spPr>
          <a:xfrm>
            <a:off x="1053852" y="1196752"/>
            <a:ext cx="10801200" cy="1200329"/>
          </a:xfrm>
          <a:prstGeom prst="rect">
            <a:avLst/>
          </a:prstGeom>
          <a:noFill/>
        </p:spPr>
        <p:txBody>
          <a:bodyPr wrap="square" rtlCol="0">
            <a:spAutoFit/>
          </a:bodyPr>
          <a:lstStyle/>
          <a:p>
            <a:r>
              <a:rPr lang="en-US" sz="1800" dirty="0">
                <a:solidFill>
                  <a:schemeClr val="tx2"/>
                </a:solidFill>
                <a:ea typeface="ADLaM Display" panose="02010000000000000000" pitchFamily="2" charset="0"/>
                <a:cs typeface="ADLaM Display" panose="02010000000000000000" pitchFamily="2" charset="0"/>
              </a:rPr>
              <a:t>The landscape of deep learning is supported by powerful open-source frameworks that simplify the development, training, and deployment of neural networks. These tools empower developers and researchers to build sophisticated AI models.</a:t>
            </a:r>
          </a:p>
          <a:p>
            <a:endParaRPr lang="en-AE" sz="1800" dirty="0">
              <a:solidFill>
                <a:schemeClr val="tx2"/>
              </a:solidFill>
            </a:endParaRPr>
          </a:p>
        </p:txBody>
      </p:sp>
      <p:sp>
        <p:nvSpPr>
          <p:cNvPr id="4" name="TextBox 3">
            <a:extLst>
              <a:ext uri="{FF2B5EF4-FFF2-40B4-BE49-F238E27FC236}">
                <a16:creationId xmlns:a16="http://schemas.microsoft.com/office/drawing/2014/main" id="{333048F9-6F14-E0F7-9D52-AEA47BEF89D4}"/>
              </a:ext>
            </a:extLst>
          </p:cNvPr>
          <p:cNvSpPr txBox="1"/>
          <p:nvPr/>
        </p:nvSpPr>
        <p:spPr>
          <a:xfrm>
            <a:off x="981844" y="2183089"/>
            <a:ext cx="5184576" cy="4401205"/>
          </a:xfrm>
          <a:prstGeom prst="rect">
            <a:avLst/>
          </a:prstGeom>
          <a:noFill/>
        </p:spPr>
        <p:txBody>
          <a:bodyPr wrap="square" rtlCol="0">
            <a:spAutoFit/>
          </a:bodyPr>
          <a:lstStyle/>
          <a:p>
            <a:pPr marL="342900" indent="-342900">
              <a:buFont typeface="Wingdings" panose="05000000000000000000" pitchFamily="2" charset="2"/>
              <a:buChar char="§"/>
            </a:pPr>
            <a:r>
              <a:rPr lang="en-US" sz="2000" b="1" dirty="0">
                <a:ea typeface="ADLaM Display" panose="02010000000000000000" pitchFamily="2" charset="0"/>
                <a:cs typeface="ADLaM Display" panose="02010000000000000000" pitchFamily="2" charset="0"/>
              </a:rPr>
              <a:t>TENSORFLOW (GOOGLE)</a:t>
            </a:r>
          </a:p>
          <a:p>
            <a:pPr marL="952393" lvl="1" indent="-342900">
              <a:buFont typeface="Arial" panose="020B0604020202020204" pitchFamily="34" charset="0"/>
              <a:buChar char="•"/>
            </a:pPr>
            <a:r>
              <a:rPr lang="en-US" sz="2000" dirty="0">
                <a:solidFill>
                  <a:schemeClr val="tx2"/>
                </a:solidFill>
                <a:ea typeface="ADLaM Display" panose="02010000000000000000" pitchFamily="2" charset="0"/>
                <a:cs typeface="ADLaM Display" panose="02010000000000000000" pitchFamily="2" charset="0"/>
              </a:rPr>
              <a:t>A comprehensive open-source platform for machine learning, widely adopted for production-scale deep learning, distributed training, and deployment on various devices.</a:t>
            </a:r>
          </a:p>
          <a:p>
            <a:pPr marL="952393" lvl="1" indent="-342900">
              <a:buFont typeface="Arial" panose="020B0604020202020204" pitchFamily="34" charset="0"/>
              <a:buChar char="•"/>
            </a:pPr>
            <a:endParaRPr lang="en-US" sz="2000" dirty="0">
              <a:solidFill>
                <a:schemeClr val="tx2"/>
              </a:solidFill>
              <a:ea typeface="ADLaM Display" panose="02010000000000000000" pitchFamily="2" charset="0"/>
              <a:cs typeface="ADLaM Display" panose="02010000000000000000" pitchFamily="2" charset="0"/>
            </a:endParaRPr>
          </a:p>
          <a:p>
            <a:pPr marL="342900" indent="-342900">
              <a:buFont typeface="Wingdings" panose="05000000000000000000" pitchFamily="2" charset="2"/>
              <a:buChar char="§"/>
            </a:pPr>
            <a:r>
              <a:rPr lang="en-US" sz="2000" b="1" dirty="0">
                <a:ea typeface="ADLaM Display" panose="02010000000000000000" pitchFamily="2" charset="0"/>
                <a:cs typeface="ADLaM Display" panose="02010000000000000000" pitchFamily="2" charset="0"/>
              </a:rPr>
              <a:t>PYTORCH (META)</a:t>
            </a:r>
          </a:p>
          <a:p>
            <a:pPr marL="952393" lvl="1" indent="-342900">
              <a:buFont typeface="Arial" panose="020B0604020202020204" pitchFamily="34" charset="0"/>
              <a:buChar char="•"/>
            </a:pPr>
            <a:r>
              <a:rPr lang="en-US" sz="2000" dirty="0">
                <a:solidFill>
                  <a:schemeClr val="tx2"/>
                </a:solidFill>
                <a:ea typeface="ADLaM Display" panose="02010000000000000000" pitchFamily="2" charset="0"/>
                <a:cs typeface="ADLaM Display" panose="02010000000000000000" pitchFamily="2" charset="0"/>
              </a:rPr>
              <a:t>Known for its Pythonic interface, dynamic computation graph, and ease of debugging, making it a favorite for academic research and rapid prototyping, especially in computer vision and NLP.</a:t>
            </a:r>
          </a:p>
        </p:txBody>
      </p:sp>
      <p:sp>
        <p:nvSpPr>
          <p:cNvPr id="6" name="TextBox 5">
            <a:extLst>
              <a:ext uri="{FF2B5EF4-FFF2-40B4-BE49-F238E27FC236}">
                <a16:creationId xmlns:a16="http://schemas.microsoft.com/office/drawing/2014/main" id="{9F33DE71-5F81-9A2E-DA2C-CE0BDB2289C5}"/>
              </a:ext>
            </a:extLst>
          </p:cNvPr>
          <p:cNvSpPr txBox="1"/>
          <p:nvPr/>
        </p:nvSpPr>
        <p:spPr>
          <a:xfrm>
            <a:off x="6238428" y="2183089"/>
            <a:ext cx="5698316" cy="4401205"/>
          </a:xfrm>
          <a:prstGeom prst="rect">
            <a:avLst/>
          </a:prstGeom>
          <a:noFill/>
        </p:spPr>
        <p:txBody>
          <a:bodyPr wrap="square" rtlCol="0">
            <a:spAutoFit/>
          </a:bodyPr>
          <a:lstStyle/>
          <a:p>
            <a:pPr marL="342900" indent="-342900">
              <a:buFont typeface="Wingdings" panose="05000000000000000000" pitchFamily="2" charset="2"/>
              <a:buChar char="§"/>
            </a:pPr>
            <a:r>
              <a:rPr lang="en-US" sz="2000" b="1" dirty="0">
                <a:ea typeface="ADLaM Display" panose="02010000000000000000" pitchFamily="2" charset="0"/>
                <a:cs typeface="ADLaM Display" panose="02010000000000000000" pitchFamily="2" charset="0"/>
              </a:rPr>
              <a:t>KERAS</a:t>
            </a:r>
          </a:p>
          <a:p>
            <a:pPr marL="952393" lvl="1" indent="-342900">
              <a:buFont typeface="Arial" panose="020B0604020202020204" pitchFamily="34" charset="0"/>
              <a:buChar char="•"/>
            </a:pPr>
            <a:r>
              <a:rPr lang="en-US" sz="2000" dirty="0">
                <a:solidFill>
                  <a:schemeClr val="tx2"/>
                </a:solidFill>
                <a:ea typeface="ADLaM Display" panose="02010000000000000000" pitchFamily="2" charset="0"/>
                <a:cs typeface="ADLaM Display" panose="02010000000000000000" pitchFamily="2" charset="0"/>
              </a:rPr>
              <a:t>A user-friendly, high-level neural network API designed for fast experimentation. It runs on top of TensorFlow, simplifying model development and prototyping for beginners and experts alike.</a:t>
            </a:r>
          </a:p>
          <a:p>
            <a:pPr marL="952393" lvl="1" indent="-342900">
              <a:buFont typeface="Arial" panose="020B0604020202020204" pitchFamily="34" charset="0"/>
              <a:buChar char="•"/>
            </a:pPr>
            <a:endParaRPr lang="en-US" sz="2000" dirty="0">
              <a:solidFill>
                <a:schemeClr val="tx2"/>
              </a:solidFill>
              <a:ea typeface="ADLaM Display" panose="02010000000000000000" pitchFamily="2" charset="0"/>
              <a:cs typeface="ADLaM Display" panose="02010000000000000000" pitchFamily="2" charset="0"/>
            </a:endParaRPr>
          </a:p>
          <a:p>
            <a:pPr marL="342900" indent="-342900">
              <a:buFont typeface="Wingdings" panose="05000000000000000000" pitchFamily="2" charset="2"/>
              <a:buChar char="§"/>
            </a:pPr>
            <a:r>
              <a:rPr lang="en-US" sz="2000" b="1" dirty="0">
                <a:ea typeface="ADLaM Display" panose="02010000000000000000" pitchFamily="2" charset="0"/>
                <a:cs typeface="ADLaM Display" panose="02010000000000000000" pitchFamily="2" charset="0"/>
              </a:rPr>
              <a:t>SCIKIT-LEARN</a:t>
            </a:r>
          </a:p>
          <a:p>
            <a:pPr marL="952393" lvl="1" indent="-342900">
              <a:buFont typeface="Arial" panose="020B0604020202020204" pitchFamily="34" charset="0"/>
              <a:buChar char="•"/>
            </a:pPr>
            <a:r>
              <a:rPr lang="en-US" sz="2000" dirty="0">
                <a:solidFill>
                  <a:schemeClr val="tx2"/>
                </a:solidFill>
                <a:ea typeface="ADLaM Display" panose="02010000000000000000" pitchFamily="2" charset="0"/>
                <a:cs typeface="ADLaM Display" panose="02010000000000000000" pitchFamily="2" charset="0"/>
              </a:rPr>
              <a:t>While primarily a traditional machine learning library, Scikit-learn is often integrated with deep learning workflows for data preprocessing, classical ML tasks, and model evaluation due to its robust suite of algorithms.</a:t>
            </a:r>
          </a:p>
        </p:txBody>
      </p:sp>
    </p:spTree>
    <p:extLst>
      <p:ext uri="{BB962C8B-B14F-4D97-AF65-F5344CB8AC3E}">
        <p14:creationId xmlns:p14="http://schemas.microsoft.com/office/powerpoint/2010/main" val="3681949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04088" y="400794"/>
            <a:ext cx="7208944" cy="494576"/>
          </a:xfrm>
          <a:prstGeom prst="rect">
            <a:avLst/>
          </a:prstGeom>
          <a:noFill/>
          <a:ln/>
        </p:spPr>
        <p:txBody>
          <a:bodyPr wrap="none" lIns="0" tIns="0" rIns="0" bIns="0" rtlCol="0" anchor="t"/>
          <a:lstStyle/>
          <a:p>
            <a:pPr>
              <a:lnSpc>
                <a:spcPts val="3874"/>
              </a:lnSpc>
            </a:pPr>
            <a:r>
              <a:rPr lang="en-US" sz="4000" b="1" dirty="0">
                <a:latin typeface="+mj-lt"/>
                <a:ea typeface="ADLaM Display" panose="02010000000000000000" pitchFamily="2" charset="0"/>
                <a:cs typeface="ADLaM Display" panose="02010000000000000000" pitchFamily="2" charset="0"/>
              </a:rPr>
              <a:t>NEURAL NETWORK PERFORMANCE METRICS</a:t>
            </a:r>
          </a:p>
        </p:txBody>
      </p:sp>
      <p:sp>
        <p:nvSpPr>
          <p:cNvPr id="3" name="Text 1"/>
          <p:cNvSpPr/>
          <p:nvPr/>
        </p:nvSpPr>
        <p:spPr>
          <a:xfrm>
            <a:off x="1053853" y="1077289"/>
            <a:ext cx="10801200" cy="506479"/>
          </a:xfrm>
          <a:prstGeom prst="rect">
            <a:avLst/>
          </a:prstGeom>
          <a:noFill/>
          <a:ln/>
        </p:spPr>
        <p:txBody>
          <a:bodyPr wrap="square" lIns="0" tIns="0" rIns="0" bIns="0" rtlCol="0" anchor="t"/>
          <a:lstStyle/>
          <a:p>
            <a:pPr>
              <a:lnSpc>
                <a:spcPts val="1957"/>
              </a:lnSpc>
            </a:pPr>
            <a:r>
              <a:rPr lang="en-US" sz="1800" dirty="0">
                <a:solidFill>
                  <a:schemeClr val="tx2"/>
                </a:solidFill>
                <a:ea typeface="ADLaM Display" panose="02010000000000000000" pitchFamily="2" charset="0"/>
                <a:cs typeface="ADLaM Display" panose="02010000000000000000" pitchFamily="2" charset="0"/>
              </a:rPr>
              <a:t>Understanding how to evaluate neural network performance is crucial for developing effective and reliable AI models. These metrics provide insight into various aspects of a model's predictive power, guiding model selection and optimization.</a:t>
            </a: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3854" y="2144296"/>
            <a:ext cx="395680" cy="395680"/>
          </a:xfrm>
          <a:prstGeom prst="rect">
            <a:avLst/>
          </a:prstGeom>
        </p:spPr>
      </p:pic>
      <p:sp>
        <p:nvSpPr>
          <p:cNvPr id="5" name="Text 2"/>
          <p:cNvSpPr/>
          <p:nvPr/>
        </p:nvSpPr>
        <p:spPr>
          <a:xfrm>
            <a:off x="1053853" y="2634489"/>
            <a:ext cx="1978403" cy="247289"/>
          </a:xfrm>
          <a:prstGeom prst="rect">
            <a:avLst/>
          </a:prstGeom>
          <a:noFill/>
          <a:ln/>
        </p:spPr>
        <p:txBody>
          <a:bodyPr wrap="none" lIns="0" tIns="0" rIns="0" bIns="0" rtlCol="0" anchor="t"/>
          <a:lstStyle/>
          <a:p>
            <a:pPr>
              <a:lnSpc>
                <a:spcPts val="1916"/>
              </a:lnSpc>
            </a:pPr>
            <a:r>
              <a:rPr lang="en-US" sz="1800" b="1" dirty="0">
                <a:latin typeface="+mj-lt"/>
                <a:ea typeface="ADLaM Display" panose="02010000000000000000" pitchFamily="2" charset="0"/>
                <a:cs typeface="ADLaM Display" panose="02010000000000000000" pitchFamily="2" charset="0"/>
              </a:rPr>
              <a:t>ACCURACY</a:t>
            </a:r>
            <a:endParaRPr lang="en-US" sz="1800" dirty="0">
              <a:latin typeface="+mj-lt"/>
              <a:ea typeface="ADLaM Display" panose="02010000000000000000" pitchFamily="2" charset="0"/>
              <a:cs typeface="ADLaM Display" panose="02010000000000000000" pitchFamily="2" charset="0"/>
            </a:endParaRPr>
          </a:p>
        </p:txBody>
      </p:sp>
      <p:sp>
        <p:nvSpPr>
          <p:cNvPr id="6" name="Text 3"/>
          <p:cNvSpPr/>
          <p:nvPr/>
        </p:nvSpPr>
        <p:spPr>
          <a:xfrm>
            <a:off x="1053853" y="2922521"/>
            <a:ext cx="3561819" cy="1012958"/>
          </a:xfrm>
          <a:prstGeom prst="rect">
            <a:avLst/>
          </a:prstGeom>
          <a:noFill/>
          <a:ln/>
        </p:spPr>
        <p:txBody>
          <a:bodyPr wrap="square" lIns="0" tIns="0" rIns="0" bIns="0" rtlCol="0" anchor="t"/>
          <a:lstStyle/>
          <a:p>
            <a:pPr>
              <a:lnSpc>
                <a:spcPts val="1957"/>
              </a:lnSpc>
            </a:pPr>
            <a:r>
              <a:rPr lang="en-US" sz="1600" dirty="0">
                <a:solidFill>
                  <a:schemeClr val="tx2"/>
                </a:solidFill>
                <a:ea typeface="ADLaM Display" panose="02010000000000000000" pitchFamily="2" charset="0"/>
                <a:cs typeface="ADLaM Display" panose="02010000000000000000" pitchFamily="2" charset="0"/>
              </a:rPr>
              <a:t>The proportion of correctly classified instances (true positives and true negatives) out of the total number of instances. It's a general measure of correctness.</a:t>
            </a:r>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11066" y="2144296"/>
            <a:ext cx="395680" cy="395680"/>
          </a:xfrm>
          <a:prstGeom prst="rect">
            <a:avLst/>
          </a:prstGeom>
        </p:spPr>
      </p:pic>
      <p:sp>
        <p:nvSpPr>
          <p:cNvPr id="8" name="Text 4"/>
          <p:cNvSpPr/>
          <p:nvPr/>
        </p:nvSpPr>
        <p:spPr>
          <a:xfrm>
            <a:off x="4711066" y="2634489"/>
            <a:ext cx="1978403" cy="247289"/>
          </a:xfrm>
          <a:prstGeom prst="rect">
            <a:avLst/>
          </a:prstGeom>
          <a:noFill/>
          <a:ln/>
        </p:spPr>
        <p:txBody>
          <a:bodyPr wrap="none" lIns="0" tIns="0" rIns="0" bIns="0" rtlCol="0" anchor="t"/>
          <a:lstStyle/>
          <a:p>
            <a:pPr>
              <a:lnSpc>
                <a:spcPts val="1916"/>
              </a:lnSpc>
            </a:pPr>
            <a:r>
              <a:rPr lang="en-US" sz="1800" b="1" dirty="0">
                <a:latin typeface="+mj-lt"/>
                <a:ea typeface="ADLaM Display" panose="02010000000000000000" pitchFamily="2" charset="0"/>
                <a:cs typeface="ADLaM Display" panose="02010000000000000000" pitchFamily="2" charset="0"/>
              </a:rPr>
              <a:t>PRECISION</a:t>
            </a:r>
            <a:endParaRPr lang="en-US" sz="1800" dirty="0">
              <a:latin typeface="+mj-lt"/>
              <a:ea typeface="ADLaM Display" panose="02010000000000000000" pitchFamily="2" charset="0"/>
              <a:cs typeface="ADLaM Display" panose="02010000000000000000" pitchFamily="2" charset="0"/>
            </a:endParaRPr>
          </a:p>
        </p:txBody>
      </p:sp>
      <p:sp>
        <p:nvSpPr>
          <p:cNvPr id="9" name="Text 5"/>
          <p:cNvSpPr/>
          <p:nvPr/>
        </p:nvSpPr>
        <p:spPr>
          <a:xfrm>
            <a:off x="4711066" y="2922521"/>
            <a:ext cx="3561819" cy="1012958"/>
          </a:xfrm>
          <a:prstGeom prst="rect">
            <a:avLst/>
          </a:prstGeom>
          <a:noFill/>
          <a:ln/>
        </p:spPr>
        <p:txBody>
          <a:bodyPr wrap="square" lIns="0" tIns="0" rIns="0" bIns="0" rtlCol="0" anchor="t"/>
          <a:lstStyle/>
          <a:p>
            <a:pPr>
              <a:lnSpc>
                <a:spcPts val="1957"/>
              </a:lnSpc>
            </a:pPr>
            <a:r>
              <a:rPr lang="en-US" sz="1600" dirty="0">
                <a:solidFill>
                  <a:schemeClr val="tx2"/>
                </a:solidFill>
                <a:ea typeface="ADLaM Display" panose="02010000000000000000" pitchFamily="2" charset="0"/>
                <a:cs typeface="ADLaM Display" panose="02010000000000000000" pitchFamily="2" charset="0"/>
              </a:rPr>
              <a:t>Measures the proportion of true positive predictions among all positive predictions made by the model. It focuses on the quality of positive predictions.</a:t>
            </a:r>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70676" y="2144296"/>
            <a:ext cx="395680" cy="395680"/>
          </a:xfrm>
          <a:prstGeom prst="rect">
            <a:avLst/>
          </a:prstGeom>
        </p:spPr>
      </p:pic>
      <p:sp>
        <p:nvSpPr>
          <p:cNvPr id="11" name="Text 6"/>
          <p:cNvSpPr/>
          <p:nvPr/>
        </p:nvSpPr>
        <p:spPr>
          <a:xfrm>
            <a:off x="8470675" y="2634489"/>
            <a:ext cx="1978403" cy="247289"/>
          </a:xfrm>
          <a:prstGeom prst="rect">
            <a:avLst/>
          </a:prstGeom>
          <a:noFill/>
          <a:ln/>
        </p:spPr>
        <p:txBody>
          <a:bodyPr wrap="none" lIns="0" tIns="0" rIns="0" bIns="0" rtlCol="0" anchor="t"/>
          <a:lstStyle/>
          <a:p>
            <a:pPr>
              <a:lnSpc>
                <a:spcPts val="1916"/>
              </a:lnSpc>
            </a:pPr>
            <a:r>
              <a:rPr lang="en-US" sz="1800" b="1" dirty="0">
                <a:latin typeface="+mj-lt"/>
                <a:ea typeface="ADLaM Display" panose="02010000000000000000" pitchFamily="2" charset="0"/>
                <a:cs typeface="ADLaM Display" panose="02010000000000000000" pitchFamily="2" charset="0"/>
              </a:rPr>
              <a:t>RECALL</a:t>
            </a:r>
            <a:endParaRPr lang="en-US" sz="1800" dirty="0">
              <a:latin typeface="+mj-lt"/>
              <a:ea typeface="ADLaM Display" panose="02010000000000000000" pitchFamily="2" charset="0"/>
              <a:cs typeface="ADLaM Display" panose="02010000000000000000" pitchFamily="2" charset="0"/>
            </a:endParaRPr>
          </a:p>
        </p:txBody>
      </p:sp>
      <p:sp>
        <p:nvSpPr>
          <p:cNvPr id="12" name="Text 7"/>
          <p:cNvSpPr/>
          <p:nvPr/>
        </p:nvSpPr>
        <p:spPr>
          <a:xfrm>
            <a:off x="8470676" y="2922521"/>
            <a:ext cx="3561819" cy="1012958"/>
          </a:xfrm>
          <a:prstGeom prst="rect">
            <a:avLst/>
          </a:prstGeom>
          <a:noFill/>
          <a:ln/>
        </p:spPr>
        <p:txBody>
          <a:bodyPr wrap="square" lIns="0" tIns="0" rIns="0" bIns="0" rtlCol="0" anchor="t"/>
          <a:lstStyle/>
          <a:p>
            <a:pPr>
              <a:lnSpc>
                <a:spcPts val="1957"/>
              </a:lnSpc>
            </a:pPr>
            <a:r>
              <a:rPr lang="en-US" sz="1600" dirty="0">
                <a:solidFill>
                  <a:schemeClr val="tx2"/>
                </a:solidFill>
                <a:ea typeface="ADLaM Display" panose="02010000000000000000" pitchFamily="2" charset="0"/>
                <a:cs typeface="ADLaM Display" panose="02010000000000000000" pitchFamily="2" charset="0"/>
              </a:rPr>
              <a:t>Measures the proportion of true positive predictions among all actual positive cases in the dataset. It focuses on the model's ability to find all positive instances.</a:t>
            </a:r>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53854" y="4409465"/>
            <a:ext cx="395680" cy="395680"/>
          </a:xfrm>
          <a:prstGeom prst="rect">
            <a:avLst/>
          </a:prstGeom>
        </p:spPr>
      </p:pic>
      <p:sp>
        <p:nvSpPr>
          <p:cNvPr id="14" name="Text 8"/>
          <p:cNvSpPr/>
          <p:nvPr/>
        </p:nvSpPr>
        <p:spPr>
          <a:xfrm>
            <a:off x="1053853" y="4899658"/>
            <a:ext cx="1978403" cy="247289"/>
          </a:xfrm>
          <a:prstGeom prst="rect">
            <a:avLst/>
          </a:prstGeom>
          <a:noFill/>
          <a:ln/>
        </p:spPr>
        <p:txBody>
          <a:bodyPr wrap="none" lIns="0" tIns="0" rIns="0" bIns="0" rtlCol="0" anchor="t"/>
          <a:lstStyle/>
          <a:p>
            <a:pPr>
              <a:lnSpc>
                <a:spcPts val="1916"/>
              </a:lnSpc>
            </a:pPr>
            <a:r>
              <a:rPr lang="en-US" sz="1800" b="1" dirty="0">
                <a:latin typeface="+mj-lt"/>
                <a:ea typeface="ADLaM Display" panose="02010000000000000000" pitchFamily="2" charset="0"/>
                <a:cs typeface="ADLaM Display" panose="02010000000000000000" pitchFamily="2" charset="0"/>
              </a:rPr>
              <a:t>F1-SCORE</a:t>
            </a:r>
            <a:endParaRPr lang="en-US" sz="1800" dirty="0">
              <a:latin typeface="+mj-lt"/>
              <a:ea typeface="ADLaM Display" panose="02010000000000000000" pitchFamily="2" charset="0"/>
              <a:cs typeface="ADLaM Display" panose="02010000000000000000" pitchFamily="2" charset="0"/>
            </a:endParaRPr>
          </a:p>
        </p:txBody>
      </p:sp>
      <p:sp>
        <p:nvSpPr>
          <p:cNvPr id="15" name="Text 9"/>
          <p:cNvSpPr/>
          <p:nvPr/>
        </p:nvSpPr>
        <p:spPr>
          <a:xfrm>
            <a:off x="1053853" y="5187691"/>
            <a:ext cx="3561819" cy="1012958"/>
          </a:xfrm>
          <a:prstGeom prst="rect">
            <a:avLst/>
          </a:prstGeom>
          <a:noFill/>
          <a:ln/>
        </p:spPr>
        <p:txBody>
          <a:bodyPr wrap="square" lIns="0" tIns="0" rIns="0" bIns="0" rtlCol="0" anchor="t"/>
          <a:lstStyle/>
          <a:p>
            <a:pPr>
              <a:lnSpc>
                <a:spcPts val="1957"/>
              </a:lnSpc>
            </a:pPr>
            <a:r>
              <a:rPr lang="en-US" sz="1600" dirty="0">
                <a:solidFill>
                  <a:schemeClr val="tx2"/>
                </a:solidFill>
                <a:ea typeface="ADLaM Display" panose="02010000000000000000" pitchFamily="2" charset="0"/>
                <a:cs typeface="ADLaM Display" panose="02010000000000000000" pitchFamily="2" charset="0"/>
              </a:rPr>
              <a:t>The harmonic mean of Precision and Recall. It provides a single metric that balances both measures, especially useful when class distribution is uneven.</a:t>
            </a:r>
          </a:p>
        </p:txBody>
      </p:sp>
      <p:pic>
        <p:nvPicPr>
          <p:cNvPr id="1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11066" y="4409465"/>
            <a:ext cx="395680" cy="395680"/>
          </a:xfrm>
          <a:prstGeom prst="rect">
            <a:avLst/>
          </a:prstGeom>
        </p:spPr>
      </p:pic>
      <p:sp>
        <p:nvSpPr>
          <p:cNvPr id="17" name="Text 10"/>
          <p:cNvSpPr/>
          <p:nvPr/>
        </p:nvSpPr>
        <p:spPr>
          <a:xfrm>
            <a:off x="4711066" y="4899658"/>
            <a:ext cx="1978403" cy="247289"/>
          </a:xfrm>
          <a:prstGeom prst="rect">
            <a:avLst/>
          </a:prstGeom>
          <a:noFill/>
          <a:ln/>
        </p:spPr>
        <p:txBody>
          <a:bodyPr wrap="none" lIns="0" tIns="0" rIns="0" bIns="0" rtlCol="0" anchor="t"/>
          <a:lstStyle/>
          <a:p>
            <a:pPr>
              <a:lnSpc>
                <a:spcPts val="1916"/>
              </a:lnSpc>
            </a:pPr>
            <a:r>
              <a:rPr lang="en-US" sz="1800" b="1" dirty="0">
                <a:latin typeface="+mj-lt"/>
                <a:ea typeface="ADLaM Display" panose="02010000000000000000" pitchFamily="2" charset="0"/>
                <a:cs typeface="ADLaM Display" panose="02010000000000000000" pitchFamily="2" charset="0"/>
              </a:rPr>
              <a:t>LOSS FUNCTIONS</a:t>
            </a:r>
            <a:endParaRPr lang="en-US" sz="1800" dirty="0">
              <a:latin typeface="+mj-lt"/>
              <a:ea typeface="ADLaM Display" panose="02010000000000000000" pitchFamily="2" charset="0"/>
              <a:cs typeface="ADLaM Display" panose="02010000000000000000" pitchFamily="2" charset="0"/>
            </a:endParaRPr>
          </a:p>
        </p:txBody>
      </p:sp>
      <p:sp>
        <p:nvSpPr>
          <p:cNvPr id="18" name="Text 11"/>
          <p:cNvSpPr/>
          <p:nvPr/>
        </p:nvSpPr>
        <p:spPr>
          <a:xfrm>
            <a:off x="4711066" y="5187691"/>
            <a:ext cx="3561819" cy="1266198"/>
          </a:xfrm>
          <a:prstGeom prst="rect">
            <a:avLst/>
          </a:prstGeom>
          <a:noFill/>
          <a:ln/>
        </p:spPr>
        <p:txBody>
          <a:bodyPr wrap="square" lIns="0" tIns="0" rIns="0" bIns="0" rtlCol="0" anchor="t"/>
          <a:lstStyle/>
          <a:p>
            <a:pPr>
              <a:lnSpc>
                <a:spcPts val="1957"/>
              </a:lnSpc>
            </a:pPr>
            <a:r>
              <a:rPr lang="en-US" sz="1600" dirty="0">
                <a:solidFill>
                  <a:schemeClr val="tx2"/>
                </a:solidFill>
                <a:ea typeface="ADLaM Display" panose="02010000000000000000" pitchFamily="2" charset="0"/>
                <a:cs typeface="ADLaM Display" panose="02010000000000000000" pitchFamily="2" charset="0"/>
              </a:rPr>
              <a:t>Quantifies the error between predicted outputs and actual target values during training. Common examples include Mean Squared Error (MSE) for regression and Cross-Entropy for classification.</a:t>
            </a:r>
          </a:p>
        </p:txBody>
      </p:sp>
      <p:pic>
        <p:nvPicPr>
          <p:cNvPr id="1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470676" y="4409465"/>
            <a:ext cx="395680" cy="395680"/>
          </a:xfrm>
          <a:prstGeom prst="rect">
            <a:avLst/>
          </a:prstGeom>
        </p:spPr>
      </p:pic>
      <p:sp>
        <p:nvSpPr>
          <p:cNvPr id="20" name="Text 12"/>
          <p:cNvSpPr/>
          <p:nvPr/>
        </p:nvSpPr>
        <p:spPr>
          <a:xfrm>
            <a:off x="8470675" y="4899658"/>
            <a:ext cx="1978403" cy="247289"/>
          </a:xfrm>
          <a:prstGeom prst="rect">
            <a:avLst/>
          </a:prstGeom>
          <a:noFill/>
          <a:ln/>
        </p:spPr>
        <p:txBody>
          <a:bodyPr wrap="none" lIns="0" tIns="0" rIns="0" bIns="0" rtlCol="0" anchor="t"/>
          <a:lstStyle/>
          <a:p>
            <a:pPr>
              <a:lnSpc>
                <a:spcPts val="1916"/>
              </a:lnSpc>
            </a:pPr>
            <a:r>
              <a:rPr lang="en-US" sz="1800" b="1" dirty="0">
                <a:latin typeface="+mj-lt"/>
                <a:ea typeface="ADLaM Display" panose="02010000000000000000" pitchFamily="2" charset="0"/>
                <a:cs typeface="ADLaM Display" panose="02010000000000000000" pitchFamily="2" charset="0"/>
              </a:rPr>
              <a:t>CONFUSION MATRIX</a:t>
            </a:r>
            <a:endParaRPr lang="en-US" sz="1800" dirty="0">
              <a:latin typeface="+mj-lt"/>
              <a:ea typeface="ADLaM Display" panose="02010000000000000000" pitchFamily="2" charset="0"/>
              <a:cs typeface="ADLaM Display" panose="02010000000000000000" pitchFamily="2" charset="0"/>
            </a:endParaRPr>
          </a:p>
        </p:txBody>
      </p:sp>
      <p:sp>
        <p:nvSpPr>
          <p:cNvPr id="21" name="Text 13"/>
          <p:cNvSpPr/>
          <p:nvPr/>
        </p:nvSpPr>
        <p:spPr>
          <a:xfrm>
            <a:off x="8470676" y="5187691"/>
            <a:ext cx="3561819" cy="1012958"/>
          </a:xfrm>
          <a:prstGeom prst="rect">
            <a:avLst/>
          </a:prstGeom>
          <a:noFill/>
          <a:ln/>
        </p:spPr>
        <p:txBody>
          <a:bodyPr wrap="square" lIns="0" tIns="0" rIns="0" bIns="0" rtlCol="0" anchor="t"/>
          <a:lstStyle/>
          <a:p>
            <a:pPr>
              <a:lnSpc>
                <a:spcPts val="1957"/>
              </a:lnSpc>
            </a:pPr>
            <a:r>
              <a:rPr lang="en-US" sz="1600" dirty="0">
                <a:solidFill>
                  <a:schemeClr val="tx2"/>
                </a:solidFill>
                <a:ea typeface="ADLaM Display" panose="02010000000000000000" pitchFamily="2" charset="0"/>
                <a:cs typeface="ADLaM Display" panose="02010000000000000000" pitchFamily="2" charset="0"/>
              </a:rPr>
              <a:t>A table summarizing the performance of a classification model, visually breaking down predictions into true positives, true negatives, false positives, and false negatives.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1437354" y="341319"/>
            <a:ext cx="5362468" cy="521755"/>
          </a:xfrm>
          <a:prstGeom prst="rect">
            <a:avLst/>
          </a:prstGeom>
          <a:noFill/>
          <a:ln/>
        </p:spPr>
        <p:txBody>
          <a:bodyPr wrap="none" lIns="0" tIns="0" rIns="0" bIns="0" rtlCol="0" anchor="t"/>
          <a:lstStyle/>
          <a:p>
            <a:pPr>
              <a:lnSpc>
                <a:spcPts val="4082"/>
              </a:lnSpc>
            </a:pPr>
            <a:r>
              <a:rPr lang="en-US" sz="4000" b="1" dirty="0">
                <a:latin typeface="+mj-lt"/>
                <a:ea typeface="ADLaM Display" panose="02010000000000000000" pitchFamily="2" charset="0"/>
                <a:cs typeface="ADLaM Display" panose="02010000000000000000" pitchFamily="2" charset="0"/>
              </a:rPr>
              <a:t>FUTURE OF NEURAL NETWORKS</a:t>
            </a:r>
            <a:endParaRPr lang="en-US" sz="4000" dirty="0">
              <a:latin typeface="+mj-lt"/>
              <a:ea typeface="ADLaM Display" panose="02010000000000000000" pitchFamily="2" charset="0"/>
              <a:cs typeface="ADLaM Display" panose="02010000000000000000" pitchFamily="2" charset="0"/>
            </a:endParaRPr>
          </a:p>
        </p:txBody>
      </p:sp>
      <p:sp>
        <p:nvSpPr>
          <p:cNvPr id="5" name="Text 2"/>
          <p:cNvSpPr/>
          <p:nvPr/>
        </p:nvSpPr>
        <p:spPr>
          <a:xfrm>
            <a:off x="981844" y="1154733"/>
            <a:ext cx="11020134" cy="534055"/>
          </a:xfrm>
          <a:prstGeom prst="rect">
            <a:avLst/>
          </a:prstGeom>
          <a:noFill/>
          <a:ln/>
        </p:spPr>
        <p:txBody>
          <a:bodyPr wrap="square" lIns="0" tIns="0" rIns="0" bIns="0" rtlCol="0" anchor="t"/>
          <a:lstStyle/>
          <a:p>
            <a:pPr>
              <a:lnSpc>
                <a:spcPts val="2082"/>
              </a:lnSpc>
            </a:pPr>
            <a:r>
              <a:rPr lang="en-US" sz="1800" dirty="0">
                <a:solidFill>
                  <a:schemeClr val="tx2"/>
                </a:solidFill>
                <a:ea typeface="ADLaM Display" panose="02010000000000000000" pitchFamily="2" charset="0"/>
                <a:cs typeface="ADLaM Display" panose="02010000000000000000" pitchFamily="2" charset="0"/>
              </a:rPr>
              <a:t>The field of neural networks is constantly evolving, with new research and advancements shaping the future of AI. These emerging trends promise to unlock unprecedented capabilities and address complex global challenges.</a:t>
            </a:r>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6603" y="2072244"/>
            <a:ext cx="417404" cy="417404"/>
          </a:xfrm>
          <a:prstGeom prst="rect">
            <a:avLst/>
          </a:prstGeom>
        </p:spPr>
      </p:pic>
      <p:sp>
        <p:nvSpPr>
          <p:cNvPr id="7" name="Text 3"/>
          <p:cNvSpPr/>
          <p:nvPr/>
        </p:nvSpPr>
        <p:spPr>
          <a:xfrm>
            <a:off x="1176603" y="2698349"/>
            <a:ext cx="2712628" cy="260877"/>
          </a:xfrm>
          <a:prstGeom prst="rect">
            <a:avLst/>
          </a:prstGeom>
          <a:noFill/>
          <a:ln/>
        </p:spPr>
        <p:txBody>
          <a:bodyPr wrap="none" lIns="0" tIns="0" rIns="0" bIns="0" rtlCol="0" anchor="t"/>
          <a:lstStyle/>
          <a:p>
            <a:pPr>
              <a:lnSpc>
                <a:spcPts val="2041"/>
              </a:lnSpc>
            </a:pPr>
            <a:r>
              <a:rPr lang="en-US" sz="2000" b="1" dirty="0">
                <a:latin typeface="+mj-lt"/>
                <a:ea typeface="ADLaM Display" panose="02010000000000000000" pitchFamily="2" charset="0"/>
                <a:cs typeface="ADLaM Display" panose="02010000000000000000" pitchFamily="2" charset="0"/>
              </a:rPr>
              <a:t>TRANSFORMER ARCHITECTURES</a:t>
            </a:r>
          </a:p>
        </p:txBody>
      </p:sp>
      <p:sp>
        <p:nvSpPr>
          <p:cNvPr id="8" name="Text 4"/>
          <p:cNvSpPr/>
          <p:nvPr/>
        </p:nvSpPr>
        <p:spPr>
          <a:xfrm>
            <a:off x="1176602" y="3059412"/>
            <a:ext cx="3534243" cy="801082"/>
          </a:xfrm>
          <a:prstGeom prst="rect">
            <a:avLst/>
          </a:prstGeom>
          <a:noFill/>
          <a:ln/>
        </p:spPr>
        <p:txBody>
          <a:bodyPr wrap="square" lIns="0" tIns="0" rIns="0" bIns="0" rtlCol="0" anchor="t"/>
          <a:lstStyle/>
          <a:p>
            <a:pPr>
              <a:lnSpc>
                <a:spcPts val="2082"/>
              </a:lnSpc>
            </a:pPr>
            <a:r>
              <a:rPr lang="en-US" sz="1600" dirty="0">
                <a:solidFill>
                  <a:schemeClr val="tx2"/>
                </a:solidFill>
                <a:ea typeface="ADLaM Display" panose="02010000000000000000" pitchFamily="2" charset="0"/>
                <a:cs typeface="ADLaM Display" panose="02010000000000000000" pitchFamily="2" charset="0"/>
              </a:rPr>
              <a:t>Revolutionizing NLP and vision with self-attention, allowing models to understand context over long sequences efficiently.</a:t>
            </a:r>
          </a:p>
        </p:txBody>
      </p:sp>
      <p:pic>
        <p:nvPicPr>
          <p:cNvPr id="9"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19549" y="2072244"/>
            <a:ext cx="417404" cy="417404"/>
          </a:xfrm>
          <a:prstGeom prst="rect">
            <a:avLst/>
          </a:prstGeom>
        </p:spPr>
      </p:pic>
      <p:sp>
        <p:nvSpPr>
          <p:cNvPr id="10" name="Text 5"/>
          <p:cNvSpPr/>
          <p:nvPr/>
        </p:nvSpPr>
        <p:spPr>
          <a:xfrm>
            <a:off x="4919547" y="2698349"/>
            <a:ext cx="2087118" cy="260877"/>
          </a:xfrm>
          <a:prstGeom prst="rect">
            <a:avLst/>
          </a:prstGeom>
          <a:noFill/>
          <a:ln/>
        </p:spPr>
        <p:txBody>
          <a:bodyPr wrap="none" lIns="0" tIns="0" rIns="0" bIns="0" rtlCol="0" anchor="t"/>
          <a:lstStyle/>
          <a:p>
            <a:pPr>
              <a:lnSpc>
                <a:spcPts val="2041"/>
              </a:lnSpc>
            </a:pPr>
            <a:r>
              <a:rPr lang="en-US" sz="2000" b="1" dirty="0">
                <a:latin typeface="+mj-lt"/>
                <a:ea typeface="ADLaM Display" panose="02010000000000000000" pitchFamily="2" charset="0"/>
                <a:cs typeface="ADLaM Display" panose="02010000000000000000" pitchFamily="2" charset="0"/>
              </a:rPr>
              <a:t>GENERATIVE AI</a:t>
            </a:r>
          </a:p>
        </p:txBody>
      </p:sp>
      <p:sp>
        <p:nvSpPr>
          <p:cNvPr id="11" name="Text 6"/>
          <p:cNvSpPr/>
          <p:nvPr/>
        </p:nvSpPr>
        <p:spPr>
          <a:xfrm>
            <a:off x="4919548" y="3059411"/>
            <a:ext cx="3534243" cy="1068110"/>
          </a:xfrm>
          <a:prstGeom prst="rect">
            <a:avLst/>
          </a:prstGeom>
          <a:noFill/>
          <a:ln/>
        </p:spPr>
        <p:txBody>
          <a:bodyPr wrap="square" lIns="0" tIns="0" rIns="0" bIns="0" rtlCol="0" anchor="t"/>
          <a:lstStyle/>
          <a:p>
            <a:pPr>
              <a:lnSpc>
                <a:spcPts val="2082"/>
              </a:lnSpc>
            </a:pPr>
            <a:r>
              <a:rPr lang="en-US" sz="1600" dirty="0">
                <a:solidFill>
                  <a:schemeClr val="tx2"/>
                </a:solidFill>
                <a:ea typeface="ADLaM Display" panose="02010000000000000000" pitchFamily="2" charset="0"/>
                <a:cs typeface="ADLaM Display" panose="02010000000000000000" pitchFamily="2" charset="0"/>
              </a:rPr>
              <a:t>Creating realistic images, text, and code through models like GANs and Diffusion, pushing creative boundaries and automating content.</a:t>
            </a:r>
          </a:p>
        </p:txBody>
      </p:sp>
      <p:pic>
        <p:nvPicPr>
          <p:cNvPr id="12"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62494" y="2072244"/>
            <a:ext cx="417404" cy="417404"/>
          </a:xfrm>
          <a:prstGeom prst="rect">
            <a:avLst/>
          </a:prstGeom>
        </p:spPr>
      </p:pic>
      <p:sp>
        <p:nvSpPr>
          <p:cNvPr id="13" name="Text 7"/>
          <p:cNvSpPr/>
          <p:nvPr/>
        </p:nvSpPr>
        <p:spPr>
          <a:xfrm>
            <a:off x="8662494" y="2698349"/>
            <a:ext cx="2644384" cy="260877"/>
          </a:xfrm>
          <a:prstGeom prst="rect">
            <a:avLst/>
          </a:prstGeom>
          <a:noFill/>
          <a:ln/>
        </p:spPr>
        <p:txBody>
          <a:bodyPr wrap="none" lIns="0" tIns="0" rIns="0" bIns="0" rtlCol="0" anchor="t"/>
          <a:lstStyle/>
          <a:p>
            <a:pPr>
              <a:lnSpc>
                <a:spcPts val="2041"/>
              </a:lnSpc>
            </a:pPr>
            <a:r>
              <a:rPr lang="en-US" sz="2000" b="1" dirty="0">
                <a:latin typeface="+mj-lt"/>
                <a:ea typeface="ADLaM Display" panose="02010000000000000000" pitchFamily="2" charset="0"/>
                <a:cs typeface="ADLaM Display" panose="02010000000000000000" pitchFamily="2" charset="0"/>
              </a:rPr>
              <a:t>NEUROMORPHIC COMPUTING</a:t>
            </a:r>
          </a:p>
        </p:txBody>
      </p:sp>
      <p:sp>
        <p:nvSpPr>
          <p:cNvPr id="14" name="Text 8"/>
          <p:cNvSpPr/>
          <p:nvPr/>
        </p:nvSpPr>
        <p:spPr>
          <a:xfrm>
            <a:off x="8662494" y="3059412"/>
            <a:ext cx="3534243" cy="801082"/>
          </a:xfrm>
          <a:prstGeom prst="rect">
            <a:avLst/>
          </a:prstGeom>
          <a:noFill/>
          <a:ln/>
        </p:spPr>
        <p:txBody>
          <a:bodyPr wrap="square" lIns="0" tIns="0" rIns="0" bIns="0" rtlCol="0" anchor="t"/>
          <a:lstStyle/>
          <a:p>
            <a:pPr>
              <a:lnSpc>
                <a:spcPts val="2082"/>
              </a:lnSpc>
            </a:pPr>
            <a:r>
              <a:rPr lang="en-US" sz="1600" dirty="0">
                <a:solidFill>
                  <a:schemeClr val="tx2"/>
                </a:solidFill>
                <a:ea typeface="ADLaM Display" panose="02010000000000000000" pitchFamily="2" charset="0"/>
                <a:cs typeface="ADLaM Display" panose="02010000000000000000" pitchFamily="2" charset="0"/>
              </a:rPr>
              <a:t>Developing hardware that mimics the human brain's structure for vastly more energy-efficient and faster AI processing.</a:t>
            </a:r>
          </a:p>
        </p:txBody>
      </p:sp>
      <p:pic>
        <p:nvPicPr>
          <p:cNvPr id="15"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76603" y="4461403"/>
            <a:ext cx="417404" cy="417404"/>
          </a:xfrm>
          <a:prstGeom prst="rect">
            <a:avLst/>
          </a:prstGeom>
        </p:spPr>
      </p:pic>
      <p:sp>
        <p:nvSpPr>
          <p:cNvPr id="16" name="Text 9"/>
          <p:cNvSpPr/>
          <p:nvPr/>
        </p:nvSpPr>
        <p:spPr>
          <a:xfrm>
            <a:off x="1176602" y="5087509"/>
            <a:ext cx="2703503" cy="260877"/>
          </a:xfrm>
          <a:prstGeom prst="rect">
            <a:avLst/>
          </a:prstGeom>
          <a:noFill/>
          <a:ln/>
        </p:spPr>
        <p:txBody>
          <a:bodyPr wrap="none" lIns="0" tIns="0" rIns="0" bIns="0" rtlCol="0" anchor="t"/>
          <a:lstStyle/>
          <a:p>
            <a:pPr>
              <a:lnSpc>
                <a:spcPts val="2041"/>
              </a:lnSpc>
            </a:pPr>
            <a:r>
              <a:rPr lang="en-US" sz="2000" b="1" dirty="0">
                <a:latin typeface="+mj-lt"/>
                <a:ea typeface="ADLaM Display" panose="02010000000000000000" pitchFamily="2" charset="0"/>
                <a:cs typeface="ADLaM Display" panose="02010000000000000000" pitchFamily="2" charset="0"/>
              </a:rPr>
              <a:t>QUANTUM NEURAL NETWORKS</a:t>
            </a:r>
          </a:p>
        </p:txBody>
      </p:sp>
      <p:sp>
        <p:nvSpPr>
          <p:cNvPr id="17" name="Text 10"/>
          <p:cNvSpPr/>
          <p:nvPr/>
        </p:nvSpPr>
        <p:spPr>
          <a:xfrm>
            <a:off x="1176602" y="5448572"/>
            <a:ext cx="3534243" cy="801082"/>
          </a:xfrm>
          <a:prstGeom prst="rect">
            <a:avLst/>
          </a:prstGeom>
          <a:noFill/>
          <a:ln/>
        </p:spPr>
        <p:txBody>
          <a:bodyPr wrap="square" lIns="0" tIns="0" rIns="0" bIns="0" rtlCol="0" anchor="t"/>
          <a:lstStyle/>
          <a:p>
            <a:pPr>
              <a:lnSpc>
                <a:spcPts val="2082"/>
              </a:lnSpc>
            </a:pPr>
            <a:r>
              <a:rPr lang="en-US" sz="1600" dirty="0">
                <a:solidFill>
                  <a:schemeClr val="tx2"/>
                </a:solidFill>
                <a:ea typeface="ADLaM Display" panose="02010000000000000000" pitchFamily="2" charset="0"/>
                <a:cs typeface="ADLaM Display" panose="02010000000000000000" pitchFamily="2" charset="0"/>
              </a:rPr>
              <a:t>Merging quantum mechanics with NNs to solve problems intractable for classical computers, leveraging superposition.</a:t>
            </a:r>
          </a:p>
        </p:txBody>
      </p:sp>
      <p:pic>
        <p:nvPicPr>
          <p:cNvPr id="18" name="Image 5"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19549" y="4461403"/>
            <a:ext cx="417404" cy="417404"/>
          </a:xfrm>
          <a:prstGeom prst="rect">
            <a:avLst/>
          </a:prstGeom>
        </p:spPr>
      </p:pic>
      <p:sp>
        <p:nvSpPr>
          <p:cNvPr id="19" name="Text 11"/>
          <p:cNvSpPr/>
          <p:nvPr/>
        </p:nvSpPr>
        <p:spPr>
          <a:xfrm>
            <a:off x="4919548" y="5087509"/>
            <a:ext cx="2557591" cy="260877"/>
          </a:xfrm>
          <a:prstGeom prst="rect">
            <a:avLst/>
          </a:prstGeom>
          <a:noFill/>
          <a:ln/>
        </p:spPr>
        <p:txBody>
          <a:bodyPr wrap="none" lIns="0" tIns="0" rIns="0" bIns="0" rtlCol="0" anchor="t"/>
          <a:lstStyle/>
          <a:p>
            <a:pPr>
              <a:lnSpc>
                <a:spcPts val="2041"/>
              </a:lnSpc>
            </a:pPr>
            <a:r>
              <a:rPr lang="en-US" sz="2000" b="1" dirty="0">
                <a:latin typeface="+mj-lt"/>
                <a:ea typeface="ADLaM Display" panose="02010000000000000000" pitchFamily="2" charset="0"/>
                <a:cs typeface="ADLaM Display" panose="02010000000000000000" pitchFamily="2" charset="0"/>
              </a:rPr>
              <a:t>ETHICAL AI CONSIDERATIONS</a:t>
            </a:r>
          </a:p>
        </p:txBody>
      </p:sp>
      <p:sp>
        <p:nvSpPr>
          <p:cNvPr id="20" name="Text 12"/>
          <p:cNvSpPr/>
          <p:nvPr/>
        </p:nvSpPr>
        <p:spPr>
          <a:xfrm>
            <a:off x="4919548" y="5448571"/>
            <a:ext cx="3534243" cy="1068110"/>
          </a:xfrm>
          <a:prstGeom prst="rect">
            <a:avLst/>
          </a:prstGeom>
          <a:noFill/>
          <a:ln/>
        </p:spPr>
        <p:txBody>
          <a:bodyPr wrap="square" lIns="0" tIns="0" rIns="0" bIns="0" rtlCol="0" anchor="t"/>
          <a:lstStyle/>
          <a:p>
            <a:pPr>
              <a:lnSpc>
                <a:spcPts val="2082"/>
              </a:lnSpc>
            </a:pPr>
            <a:r>
              <a:rPr lang="en-US" sz="1600" dirty="0">
                <a:solidFill>
                  <a:schemeClr val="tx2"/>
                </a:solidFill>
                <a:ea typeface="ADLaM Display" panose="02010000000000000000" pitchFamily="2" charset="0"/>
                <a:cs typeface="ADLaM Display" panose="02010000000000000000" pitchFamily="2" charset="0"/>
              </a:rPr>
              <a:t>Focusing on fairness, transparency, and accountability to mitigate bias, ensure privacy, and guide AI development responsibly.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469998" y="662272"/>
            <a:ext cx="4724261" cy="590495"/>
          </a:xfrm>
          <a:prstGeom prst="rect">
            <a:avLst/>
          </a:prstGeom>
          <a:noFill/>
          <a:ln/>
        </p:spPr>
        <p:txBody>
          <a:bodyPr wrap="none" lIns="0" tIns="0" rIns="0" bIns="0" rtlCol="0" anchor="t"/>
          <a:lstStyle/>
          <a:p>
            <a:pPr>
              <a:lnSpc>
                <a:spcPts val="4624"/>
              </a:lnSpc>
            </a:pPr>
            <a:r>
              <a:rPr lang="en-US" sz="4000" b="1" dirty="0">
                <a:latin typeface="+mj-lt"/>
                <a:ea typeface="ADLaM Display" panose="02010000000000000000" pitchFamily="2" charset="0"/>
                <a:cs typeface="ADLaM Display" panose="02010000000000000000" pitchFamily="2" charset="0"/>
              </a:rPr>
              <a:t>KEY TAKEAWAYS</a:t>
            </a:r>
            <a:endParaRPr lang="en-US" sz="4000" dirty="0">
              <a:latin typeface="+mj-lt"/>
              <a:ea typeface="ADLaM Display" panose="02010000000000000000" pitchFamily="2" charset="0"/>
              <a:cs typeface="ADLaM Display" panose="02010000000000000000" pitchFamily="2" charset="0"/>
            </a:endParaRPr>
          </a:p>
        </p:txBody>
      </p:sp>
      <p:sp>
        <p:nvSpPr>
          <p:cNvPr id="3" name="Shape 1"/>
          <p:cNvSpPr/>
          <p:nvPr/>
        </p:nvSpPr>
        <p:spPr>
          <a:xfrm>
            <a:off x="1085354" y="1794595"/>
            <a:ext cx="3496054" cy="2046648"/>
          </a:xfrm>
          <a:prstGeom prst="roundRect">
            <a:avLst>
              <a:gd name="adj" fmla="val 5956"/>
            </a:avLst>
          </a:prstGeom>
          <a:solidFill>
            <a:srgbClr val="FFFFFF"/>
          </a:solidFill>
          <a:ln w="30480">
            <a:solidFill>
              <a:srgbClr val="C0C1D7"/>
            </a:solidFill>
            <a:prstDash val="solid"/>
          </a:ln>
        </p:spPr>
        <p:txBody>
          <a:bodyPr/>
          <a:lstStyle/>
          <a:p>
            <a:endParaRPr lang="en-IN" sz="2399">
              <a:latin typeface="ADLaM Display" panose="02010000000000000000" pitchFamily="2" charset="0"/>
              <a:ea typeface="ADLaM Display" panose="02010000000000000000" pitchFamily="2" charset="0"/>
              <a:cs typeface="ADLaM Display" panose="02010000000000000000" pitchFamily="2" charset="0"/>
            </a:endParaRPr>
          </a:p>
        </p:txBody>
      </p:sp>
      <p:sp>
        <p:nvSpPr>
          <p:cNvPr id="4" name="Shape 2"/>
          <p:cNvSpPr/>
          <p:nvPr/>
        </p:nvSpPr>
        <p:spPr>
          <a:xfrm>
            <a:off x="1059960" y="1794595"/>
            <a:ext cx="101574" cy="2046648"/>
          </a:xfrm>
          <a:prstGeom prst="roundRect">
            <a:avLst>
              <a:gd name="adj" fmla="val 78139"/>
            </a:avLst>
          </a:prstGeom>
          <a:solidFill>
            <a:schemeClr val="tx2"/>
          </a:solidFill>
          <a:ln/>
        </p:spPr>
        <p:txBody>
          <a:bodyPr/>
          <a:lstStyle/>
          <a:p>
            <a:endParaRPr lang="en-IN" sz="2399">
              <a:latin typeface="ADLaM Display" panose="02010000000000000000" pitchFamily="2" charset="0"/>
              <a:ea typeface="ADLaM Display" panose="02010000000000000000" pitchFamily="2" charset="0"/>
              <a:cs typeface="ADLaM Display" panose="02010000000000000000" pitchFamily="2" charset="0"/>
            </a:endParaRPr>
          </a:p>
        </p:txBody>
      </p:sp>
      <p:sp>
        <p:nvSpPr>
          <p:cNvPr id="5" name="Text 3"/>
          <p:cNvSpPr/>
          <p:nvPr/>
        </p:nvSpPr>
        <p:spPr>
          <a:xfrm>
            <a:off x="1375890" y="2008951"/>
            <a:ext cx="2428341" cy="295198"/>
          </a:xfrm>
          <a:prstGeom prst="rect">
            <a:avLst/>
          </a:prstGeom>
          <a:noFill/>
          <a:ln/>
        </p:spPr>
        <p:txBody>
          <a:bodyPr wrap="none" lIns="0" tIns="0" rIns="0" bIns="0" rtlCol="0" anchor="t"/>
          <a:lstStyle/>
          <a:p>
            <a:pPr>
              <a:lnSpc>
                <a:spcPts val="2291"/>
              </a:lnSpc>
            </a:pPr>
            <a:r>
              <a:rPr lang="en-US" sz="2000" b="1" dirty="0">
                <a:latin typeface="+mj-lt"/>
                <a:ea typeface="ADLaM Display" panose="02010000000000000000" pitchFamily="2" charset="0"/>
                <a:cs typeface="ADLaM Display" panose="02010000000000000000" pitchFamily="2" charset="0"/>
              </a:rPr>
              <a:t>BRAIN-INSPIRED POWER</a:t>
            </a:r>
            <a:endParaRPr lang="en-US" sz="2000" dirty="0">
              <a:latin typeface="+mj-lt"/>
              <a:ea typeface="ADLaM Display" panose="02010000000000000000" pitchFamily="2" charset="0"/>
              <a:cs typeface="ADLaM Display" panose="02010000000000000000" pitchFamily="2" charset="0"/>
            </a:endParaRPr>
          </a:p>
        </p:txBody>
      </p:sp>
      <p:sp>
        <p:nvSpPr>
          <p:cNvPr id="6" name="Text 4"/>
          <p:cNvSpPr/>
          <p:nvPr/>
        </p:nvSpPr>
        <p:spPr>
          <a:xfrm>
            <a:off x="1375888" y="2417527"/>
            <a:ext cx="2991163" cy="1209360"/>
          </a:xfrm>
          <a:prstGeom prst="rect">
            <a:avLst/>
          </a:prstGeom>
          <a:noFill/>
          <a:ln/>
        </p:spPr>
        <p:txBody>
          <a:bodyPr wrap="square" lIns="0" tIns="0" rIns="0" bIns="0" rtlCol="0" anchor="t"/>
          <a:lstStyle/>
          <a:p>
            <a:pPr>
              <a:lnSpc>
                <a:spcPts val="2374"/>
              </a:lnSpc>
            </a:pPr>
            <a:r>
              <a:rPr lang="en-US" sz="1600" dirty="0">
                <a:solidFill>
                  <a:schemeClr val="tx2"/>
                </a:solidFill>
                <a:ea typeface="ADLaM Display" panose="02010000000000000000" pitchFamily="2" charset="0"/>
                <a:cs typeface="ADLaM Display" panose="02010000000000000000" pitchFamily="2" charset="0"/>
              </a:rPr>
              <a:t>Neural networks excel at pattern recognition and complex decision-making, mimicking biological brains.</a:t>
            </a:r>
          </a:p>
        </p:txBody>
      </p:sp>
      <p:sp>
        <p:nvSpPr>
          <p:cNvPr id="7" name="Shape 5"/>
          <p:cNvSpPr/>
          <p:nvPr/>
        </p:nvSpPr>
        <p:spPr>
          <a:xfrm>
            <a:off x="4770370" y="1794595"/>
            <a:ext cx="3496054" cy="2046648"/>
          </a:xfrm>
          <a:prstGeom prst="roundRect">
            <a:avLst>
              <a:gd name="adj" fmla="val 5956"/>
            </a:avLst>
          </a:prstGeom>
          <a:solidFill>
            <a:srgbClr val="FFFFFF"/>
          </a:solidFill>
          <a:ln w="30480">
            <a:solidFill>
              <a:srgbClr val="C0C1D7"/>
            </a:solidFill>
            <a:prstDash val="solid"/>
          </a:ln>
        </p:spPr>
        <p:txBody>
          <a:bodyPr/>
          <a:lstStyle/>
          <a:p>
            <a:endParaRPr lang="en-IN" sz="2399">
              <a:latin typeface="ADLaM Display" panose="02010000000000000000" pitchFamily="2" charset="0"/>
              <a:ea typeface="ADLaM Display" panose="02010000000000000000" pitchFamily="2" charset="0"/>
              <a:cs typeface="ADLaM Display" panose="02010000000000000000" pitchFamily="2" charset="0"/>
            </a:endParaRPr>
          </a:p>
        </p:txBody>
      </p:sp>
      <p:sp>
        <p:nvSpPr>
          <p:cNvPr id="8" name="Shape 6"/>
          <p:cNvSpPr/>
          <p:nvPr/>
        </p:nvSpPr>
        <p:spPr>
          <a:xfrm>
            <a:off x="4744976" y="1794595"/>
            <a:ext cx="101574" cy="2046648"/>
          </a:xfrm>
          <a:prstGeom prst="roundRect">
            <a:avLst>
              <a:gd name="adj" fmla="val 78139"/>
            </a:avLst>
          </a:prstGeom>
          <a:solidFill>
            <a:schemeClr val="tx2"/>
          </a:solidFill>
          <a:ln/>
        </p:spPr>
        <p:txBody>
          <a:bodyPr/>
          <a:lstStyle/>
          <a:p>
            <a:endParaRPr lang="en-IN" sz="2399">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Text 7"/>
          <p:cNvSpPr/>
          <p:nvPr/>
        </p:nvSpPr>
        <p:spPr>
          <a:xfrm>
            <a:off x="5060906" y="2008951"/>
            <a:ext cx="2362081" cy="295198"/>
          </a:xfrm>
          <a:prstGeom prst="rect">
            <a:avLst/>
          </a:prstGeom>
          <a:noFill/>
          <a:ln/>
        </p:spPr>
        <p:txBody>
          <a:bodyPr wrap="none" lIns="0" tIns="0" rIns="0" bIns="0" rtlCol="0" anchor="t"/>
          <a:lstStyle/>
          <a:p>
            <a:pPr>
              <a:lnSpc>
                <a:spcPts val="2291"/>
              </a:lnSpc>
            </a:pPr>
            <a:r>
              <a:rPr lang="en-US" sz="2000" b="1" dirty="0">
                <a:latin typeface="+mj-lt"/>
                <a:ea typeface="ADLaM Display" panose="02010000000000000000" pitchFamily="2" charset="0"/>
                <a:cs typeface="ADLaM Display" panose="02010000000000000000" pitchFamily="2" charset="0"/>
              </a:rPr>
              <a:t>RESOURCE DEMANDS</a:t>
            </a:r>
            <a:endParaRPr lang="en-US" sz="2000" dirty="0">
              <a:latin typeface="+mj-lt"/>
              <a:ea typeface="ADLaM Display" panose="02010000000000000000" pitchFamily="2" charset="0"/>
              <a:cs typeface="ADLaM Display" panose="02010000000000000000" pitchFamily="2" charset="0"/>
            </a:endParaRPr>
          </a:p>
        </p:txBody>
      </p:sp>
      <p:sp>
        <p:nvSpPr>
          <p:cNvPr id="10" name="Text 8"/>
          <p:cNvSpPr/>
          <p:nvPr/>
        </p:nvSpPr>
        <p:spPr>
          <a:xfrm>
            <a:off x="5060906" y="2417527"/>
            <a:ext cx="2991163" cy="1209360"/>
          </a:xfrm>
          <a:prstGeom prst="rect">
            <a:avLst/>
          </a:prstGeom>
          <a:noFill/>
          <a:ln/>
        </p:spPr>
        <p:txBody>
          <a:bodyPr wrap="square" lIns="0" tIns="0" rIns="0" bIns="0" rtlCol="0" anchor="t"/>
          <a:lstStyle/>
          <a:p>
            <a:pPr>
              <a:lnSpc>
                <a:spcPts val="2374"/>
              </a:lnSpc>
            </a:pPr>
            <a:r>
              <a:rPr lang="en-US" sz="1600" dirty="0">
                <a:solidFill>
                  <a:schemeClr val="tx2"/>
                </a:solidFill>
                <a:ea typeface="ADLaM Display" panose="02010000000000000000" pitchFamily="2" charset="0"/>
                <a:cs typeface="ADLaM Display" panose="02010000000000000000" pitchFamily="2" charset="0"/>
              </a:rPr>
              <a:t>Training effective models requires vast datasets and significant computational resources (GPUs, TPUs).</a:t>
            </a:r>
          </a:p>
        </p:txBody>
      </p:sp>
      <p:sp>
        <p:nvSpPr>
          <p:cNvPr id="11" name="Shape 9"/>
          <p:cNvSpPr/>
          <p:nvPr/>
        </p:nvSpPr>
        <p:spPr>
          <a:xfrm>
            <a:off x="8455386" y="1794595"/>
            <a:ext cx="3496054" cy="2046648"/>
          </a:xfrm>
          <a:prstGeom prst="roundRect">
            <a:avLst>
              <a:gd name="adj" fmla="val 5956"/>
            </a:avLst>
          </a:prstGeom>
          <a:solidFill>
            <a:srgbClr val="FFFFFF"/>
          </a:solidFill>
          <a:ln w="30480">
            <a:solidFill>
              <a:srgbClr val="C0C1D7"/>
            </a:solidFill>
            <a:prstDash val="solid"/>
          </a:ln>
        </p:spPr>
        <p:txBody>
          <a:bodyPr/>
          <a:lstStyle/>
          <a:p>
            <a:endParaRPr lang="en-IN" sz="2399">
              <a:latin typeface="ADLaM Display" panose="02010000000000000000" pitchFamily="2" charset="0"/>
              <a:ea typeface="ADLaM Display" panose="02010000000000000000" pitchFamily="2" charset="0"/>
              <a:cs typeface="ADLaM Display" panose="02010000000000000000" pitchFamily="2" charset="0"/>
            </a:endParaRPr>
          </a:p>
        </p:txBody>
      </p:sp>
      <p:sp>
        <p:nvSpPr>
          <p:cNvPr id="12" name="Shape 10"/>
          <p:cNvSpPr/>
          <p:nvPr/>
        </p:nvSpPr>
        <p:spPr>
          <a:xfrm>
            <a:off x="8429992" y="1794595"/>
            <a:ext cx="101574" cy="2046648"/>
          </a:xfrm>
          <a:prstGeom prst="roundRect">
            <a:avLst>
              <a:gd name="adj" fmla="val 78139"/>
            </a:avLst>
          </a:prstGeom>
          <a:solidFill>
            <a:schemeClr val="tx2"/>
          </a:solidFill>
          <a:ln/>
        </p:spPr>
        <p:txBody>
          <a:bodyPr/>
          <a:lstStyle/>
          <a:p>
            <a:endParaRPr lang="en-IN" sz="2399">
              <a:latin typeface="ADLaM Display" panose="02010000000000000000" pitchFamily="2" charset="0"/>
              <a:ea typeface="ADLaM Display" panose="02010000000000000000" pitchFamily="2" charset="0"/>
              <a:cs typeface="ADLaM Display" panose="02010000000000000000" pitchFamily="2" charset="0"/>
            </a:endParaRPr>
          </a:p>
        </p:txBody>
      </p:sp>
      <p:sp>
        <p:nvSpPr>
          <p:cNvPr id="13" name="Text 11"/>
          <p:cNvSpPr/>
          <p:nvPr/>
        </p:nvSpPr>
        <p:spPr>
          <a:xfrm>
            <a:off x="8745923" y="2008951"/>
            <a:ext cx="2539042" cy="295198"/>
          </a:xfrm>
          <a:prstGeom prst="rect">
            <a:avLst/>
          </a:prstGeom>
          <a:noFill/>
          <a:ln/>
        </p:spPr>
        <p:txBody>
          <a:bodyPr wrap="none" lIns="0" tIns="0" rIns="0" bIns="0" rtlCol="0" anchor="t"/>
          <a:lstStyle/>
          <a:p>
            <a:pPr>
              <a:lnSpc>
                <a:spcPts val="2291"/>
              </a:lnSpc>
            </a:pPr>
            <a:r>
              <a:rPr lang="en-US" sz="2000" b="1" dirty="0">
                <a:latin typeface="+mj-lt"/>
                <a:ea typeface="ADLaM Display" panose="02010000000000000000" pitchFamily="2" charset="0"/>
                <a:cs typeface="ADLaM Display" panose="02010000000000000000" pitchFamily="2" charset="0"/>
              </a:rPr>
              <a:t>ARCHITECTURE DIVERSITY</a:t>
            </a:r>
            <a:endParaRPr lang="en-US" sz="2000" dirty="0">
              <a:latin typeface="+mj-lt"/>
              <a:ea typeface="ADLaM Display" panose="02010000000000000000" pitchFamily="2" charset="0"/>
              <a:cs typeface="ADLaM Display" panose="02010000000000000000" pitchFamily="2" charset="0"/>
            </a:endParaRPr>
          </a:p>
        </p:txBody>
      </p:sp>
      <p:sp>
        <p:nvSpPr>
          <p:cNvPr id="14" name="Text 12"/>
          <p:cNvSpPr/>
          <p:nvPr/>
        </p:nvSpPr>
        <p:spPr>
          <a:xfrm>
            <a:off x="8745923" y="2417527"/>
            <a:ext cx="2991163" cy="1209360"/>
          </a:xfrm>
          <a:prstGeom prst="rect">
            <a:avLst/>
          </a:prstGeom>
          <a:noFill/>
          <a:ln/>
        </p:spPr>
        <p:txBody>
          <a:bodyPr wrap="square" lIns="0" tIns="0" rIns="0" bIns="0" rtlCol="0" anchor="t"/>
          <a:lstStyle/>
          <a:p>
            <a:pPr>
              <a:lnSpc>
                <a:spcPts val="2374"/>
              </a:lnSpc>
            </a:pPr>
            <a:r>
              <a:rPr lang="en-US" sz="1600" dirty="0">
                <a:solidFill>
                  <a:schemeClr val="tx2"/>
                </a:solidFill>
                <a:ea typeface="ADLaM Display" panose="02010000000000000000" pitchFamily="2" charset="0"/>
                <a:cs typeface="ADLaM Display" panose="02010000000000000000" pitchFamily="2" charset="0"/>
              </a:rPr>
              <a:t>Specialized network designs (CNNs, RNNs, Transformers) are optimized for various tasks and data types.</a:t>
            </a:r>
          </a:p>
        </p:txBody>
      </p:sp>
      <p:sp>
        <p:nvSpPr>
          <p:cNvPr id="15" name="Shape 13"/>
          <p:cNvSpPr/>
          <p:nvPr/>
        </p:nvSpPr>
        <p:spPr>
          <a:xfrm>
            <a:off x="2694924" y="4030206"/>
            <a:ext cx="3496054" cy="2046648"/>
          </a:xfrm>
          <a:prstGeom prst="roundRect">
            <a:avLst>
              <a:gd name="adj" fmla="val 5956"/>
            </a:avLst>
          </a:prstGeom>
          <a:solidFill>
            <a:srgbClr val="FFFFFF"/>
          </a:solidFill>
          <a:ln w="30480">
            <a:solidFill>
              <a:srgbClr val="C0C1D7"/>
            </a:solidFill>
            <a:prstDash val="solid"/>
          </a:ln>
        </p:spPr>
        <p:txBody>
          <a:bodyPr/>
          <a:lstStyle/>
          <a:p>
            <a:endParaRPr lang="en-IN" sz="2399">
              <a:latin typeface="ADLaM Display" panose="02010000000000000000" pitchFamily="2" charset="0"/>
              <a:ea typeface="ADLaM Display" panose="02010000000000000000" pitchFamily="2" charset="0"/>
              <a:cs typeface="ADLaM Display" panose="02010000000000000000" pitchFamily="2" charset="0"/>
            </a:endParaRPr>
          </a:p>
        </p:txBody>
      </p:sp>
      <p:sp>
        <p:nvSpPr>
          <p:cNvPr id="16" name="Shape 14"/>
          <p:cNvSpPr/>
          <p:nvPr/>
        </p:nvSpPr>
        <p:spPr>
          <a:xfrm>
            <a:off x="2669530" y="4030206"/>
            <a:ext cx="101574" cy="2046648"/>
          </a:xfrm>
          <a:prstGeom prst="roundRect">
            <a:avLst>
              <a:gd name="adj" fmla="val 78139"/>
            </a:avLst>
          </a:prstGeom>
          <a:solidFill>
            <a:schemeClr val="tx2"/>
          </a:solidFill>
          <a:ln/>
        </p:spPr>
        <p:txBody>
          <a:bodyPr/>
          <a:lstStyle/>
          <a:p>
            <a:endParaRPr lang="en-IN" sz="2399">
              <a:latin typeface="ADLaM Display" panose="02010000000000000000" pitchFamily="2" charset="0"/>
              <a:ea typeface="ADLaM Display" panose="02010000000000000000" pitchFamily="2" charset="0"/>
              <a:cs typeface="ADLaM Display" panose="02010000000000000000" pitchFamily="2" charset="0"/>
            </a:endParaRPr>
          </a:p>
        </p:txBody>
      </p:sp>
      <p:sp>
        <p:nvSpPr>
          <p:cNvPr id="17" name="Text 15"/>
          <p:cNvSpPr/>
          <p:nvPr/>
        </p:nvSpPr>
        <p:spPr>
          <a:xfrm>
            <a:off x="2985459" y="4244561"/>
            <a:ext cx="2362081" cy="295198"/>
          </a:xfrm>
          <a:prstGeom prst="rect">
            <a:avLst/>
          </a:prstGeom>
          <a:noFill/>
          <a:ln/>
        </p:spPr>
        <p:txBody>
          <a:bodyPr wrap="none" lIns="0" tIns="0" rIns="0" bIns="0" rtlCol="0" anchor="t"/>
          <a:lstStyle/>
          <a:p>
            <a:pPr>
              <a:lnSpc>
                <a:spcPts val="2291"/>
              </a:lnSpc>
            </a:pPr>
            <a:r>
              <a:rPr lang="en-US" sz="2000" b="1" dirty="0">
                <a:latin typeface="+mj-lt"/>
                <a:ea typeface="ADLaM Display" panose="02010000000000000000" pitchFamily="2" charset="0"/>
                <a:cs typeface="ADLaM Display" panose="02010000000000000000" pitchFamily="2" charset="0"/>
              </a:rPr>
              <a:t>CRUCIAL EVALUATION</a:t>
            </a:r>
            <a:endParaRPr lang="en-US" sz="2000" dirty="0">
              <a:latin typeface="+mj-lt"/>
              <a:ea typeface="ADLaM Display" panose="02010000000000000000" pitchFamily="2" charset="0"/>
              <a:cs typeface="ADLaM Display" panose="02010000000000000000" pitchFamily="2" charset="0"/>
            </a:endParaRPr>
          </a:p>
        </p:txBody>
      </p:sp>
      <p:sp>
        <p:nvSpPr>
          <p:cNvPr id="18" name="Text 16"/>
          <p:cNvSpPr/>
          <p:nvPr/>
        </p:nvSpPr>
        <p:spPr>
          <a:xfrm>
            <a:off x="2985458" y="4653136"/>
            <a:ext cx="2991163" cy="1209360"/>
          </a:xfrm>
          <a:prstGeom prst="rect">
            <a:avLst/>
          </a:prstGeom>
          <a:noFill/>
          <a:ln/>
        </p:spPr>
        <p:txBody>
          <a:bodyPr wrap="square" lIns="0" tIns="0" rIns="0" bIns="0" rtlCol="0" anchor="t"/>
          <a:lstStyle/>
          <a:p>
            <a:pPr>
              <a:lnSpc>
                <a:spcPts val="2374"/>
              </a:lnSpc>
            </a:pPr>
            <a:r>
              <a:rPr lang="en-US" sz="1600" dirty="0">
                <a:solidFill>
                  <a:schemeClr val="tx2"/>
                </a:solidFill>
                <a:ea typeface="ADLaM Display" panose="02010000000000000000" pitchFamily="2" charset="0"/>
                <a:cs typeface="ADLaM Display" panose="02010000000000000000" pitchFamily="2" charset="0"/>
              </a:rPr>
              <a:t>Robust metrics (Accuracy, Precision, Recall, F1-Score) are essential for reliable model assessment.</a:t>
            </a:r>
          </a:p>
        </p:txBody>
      </p:sp>
      <p:sp>
        <p:nvSpPr>
          <p:cNvPr id="19" name="Shape 17"/>
          <p:cNvSpPr/>
          <p:nvPr/>
        </p:nvSpPr>
        <p:spPr>
          <a:xfrm>
            <a:off x="6379940" y="4030206"/>
            <a:ext cx="3496054" cy="2046648"/>
          </a:xfrm>
          <a:prstGeom prst="roundRect">
            <a:avLst>
              <a:gd name="adj" fmla="val 5956"/>
            </a:avLst>
          </a:prstGeom>
          <a:solidFill>
            <a:srgbClr val="FFFFFF"/>
          </a:solidFill>
          <a:ln w="30480">
            <a:solidFill>
              <a:srgbClr val="C0C1D7"/>
            </a:solidFill>
            <a:prstDash val="solid"/>
          </a:ln>
        </p:spPr>
        <p:txBody>
          <a:bodyPr/>
          <a:lstStyle/>
          <a:p>
            <a:endParaRPr lang="en-IN" sz="2399">
              <a:latin typeface="ADLaM Display" panose="02010000000000000000" pitchFamily="2" charset="0"/>
              <a:ea typeface="ADLaM Display" panose="02010000000000000000" pitchFamily="2" charset="0"/>
              <a:cs typeface="ADLaM Display" panose="02010000000000000000" pitchFamily="2" charset="0"/>
            </a:endParaRPr>
          </a:p>
        </p:txBody>
      </p:sp>
      <p:sp>
        <p:nvSpPr>
          <p:cNvPr id="20" name="Shape 18"/>
          <p:cNvSpPr/>
          <p:nvPr/>
        </p:nvSpPr>
        <p:spPr>
          <a:xfrm>
            <a:off x="6354546" y="4030206"/>
            <a:ext cx="101574" cy="2046648"/>
          </a:xfrm>
          <a:prstGeom prst="roundRect">
            <a:avLst>
              <a:gd name="adj" fmla="val 78139"/>
            </a:avLst>
          </a:prstGeom>
          <a:solidFill>
            <a:schemeClr val="tx2"/>
          </a:solidFill>
          <a:ln/>
        </p:spPr>
        <p:txBody>
          <a:bodyPr/>
          <a:lstStyle/>
          <a:p>
            <a:endParaRPr lang="en-IN" sz="2399">
              <a:latin typeface="ADLaM Display" panose="02010000000000000000" pitchFamily="2" charset="0"/>
              <a:ea typeface="ADLaM Display" panose="02010000000000000000" pitchFamily="2" charset="0"/>
              <a:cs typeface="ADLaM Display" panose="02010000000000000000" pitchFamily="2" charset="0"/>
            </a:endParaRPr>
          </a:p>
        </p:txBody>
      </p:sp>
      <p:sp>
        <p:nvSpPr>
          <p:cNvPr id="21" name="Text 19"/>
          <p:cNvSpPr/>
          <p:nvPr/>
        </p:nvSpPr>
        <p:spPr>
          <a:xfrm>
            <a:off x="6670476" y="4244561"/>
            <a:ext cx="2362081" cy="295198"/>
          </a:xfrm>
          <a:prstGeom prst="rect">
            <a:avLst/>
          </a:prstGeom>
          <a:noFill/>
          <a:ln/>
        </p:spPr>
        <p:txBody>
          <a:bodyPr wrap="none" lIns="0" tIns="0" rIns="0" bIns="0" rtlCol="0" anchor="t"/>
          <a:lstStyle/>
          <a:p>
            <a:pPr>
              <a:lnSpc>
                <a:spcPts val="2291"/>
              </a:lnSpc>
            </a:pPr>
            <a:r>
              <a:rPr lang="en-US" sz="2000" b="1" dirty="0">
                <a:latin typeface="+mj-lt"/>
                <a:ea typeface="ADLaM Display" panose="02010000000000000000" pitchFamily="2" charset="0"/>
                <a:cs typeface="ADLaM Display" panose="02010000000000000000" pitchFamily="2" charset="0"/>
              </a:rPr>
              <a:t>RAPID EVOLUTION</a:t>
            </a:r>
            <a:endParaRPr lang="en-US" sz="2000" dirty="0">
              <a:latin typeface="+mj-lt"/>
              <a:ea typeface="ADLaM Display" panose="02010000000000000000" pitchFamily="2" charset="0"/>
              <a:cs typeface="ADLaM Display" panose="02010000000000000000" pitchFamily="2" charset="0"/>
            </a:endParaRPr>
          </a:p>
        </p:txBody>
      </p:sp>
      <p:sp>
        <p:nvSpPr>
          <p:cNvPr id="22" name="Text 20"/>
          <p:cNvSpPr/>
          <p:nvPr/>
        </p:nvSpPr>
        <p:spPr>
          <a:xfrm>
            <a:off x="6670476" y="4653136"/>
            <a:ext cx="2991163" cy="1209360"/>
          </a:xfrm>
          <a:prstGeom prst="rect">
            <a:avLst/>
          </a:prstGeom>
          <a:noFill/>
          <a:ln/>
        </p:spPr>
        <p:txBody>
          <a:bodyPr wrap="square" lIns="0" tIns="0" rIns="0" bIns="0" rtlCol="0" anchor="t"/>
          <a:lstStyle/>
          <a:p>
            <a:pPr>
              <a:lnSpc>
                <a:spcPts val="2374"/>
              </a:lnSpc>
            </a:pPr>
            <a:r>
              <a:rPr lang="en-US" sz="1600" dirty="0">
                <a:solidFill>
                  <a:schemeClr val="tx2"/>
                </a:solidFill>
                <a:ea typeface="ADLaM Display" panose="02010000000000000000" pitchFamily="2" charset="0"/>
                <a:cs typeface="ADLaM Display" panose="02010000000000000000" pitchFamily="2" charset="0"/>
              </a:rPr>
              <a:t>The field constantly advances with new architectures, generative AI, and ethical considerations shaping its future.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52BA5D-6EEC-7045-6C32-ED2761526815}"/>
              </a:ext>
            </a:extLst>
          </p:cNvPr>
          <p:cNvSpPr txBox="1"/>
          <p:nvPr/>
        </p:nvSpPr>
        <p:spPr>
          <a:xfrm>
            <a:off x="1269876" y="1556792"/>
            <a:ext cx="8352928" cy="1446550"/>
          </a:xfrm>
          <a:prstGeom prst="rect">
            <a:avLst/>
          </a:prstGeom>
          <a:noFill/>
        </p:spPr>
        <p:txBody>
          <a:bodyPr wrap="square" rtlCol="0">
            <a:spAutoFit/>
          </a:bodyPr>
          <a:lstStyle/>
          <a:p>
            <a:r>
              <a:rPr lang="en-US" sz="8800" dirty="0">
                <a:latin typeface="Abadi" panose="020F0502020204030204" pitchFamily="34" charset="0"/>
              </a:rPr>
              <a:t>THANKYOU</a:t>
            </a:r>
          </a:p>
        </p:txBody>
      </p:sp>
      <p:sp>
        <p:nvSpPr>
          <p:cNvPr id="5" name="TextBox 4">
            <a:extLst>
              <a:ext uri="{FF2B5EF4-FFF2-40B4-BE49-F238E27FC236}">
                <a16:creationId xmlns:a16="http://schemas.microsoft.com/office/drawing/2014/main" id="{82191BE8-C29B-0095-898C-35EED843370D}"/>
              </a:ext>
            </a:extLst>
          </p:cNvPr>
          <p:cNvSpPr txBox="1"/>
          <p:nvPr/>
        </p:nvSpPr>
        <p:spPr>
          <a:xfrm>
            <a:off x="1413892" y="2880231"/>
            <a:ext cx="6552728" cy="1661993"/>
          </a:xfrm>
          <a:prstGeom prst="rect">
            <a:avLst/>
          </a:prstGeom>
          <a:noFill/>
        </p:spPr>
        <p:txBody>
          <a:bodyPr wrap="square" rtlCol="0">
            <a:spAutoFit/>
          </a:bodyPr>
          <a:lstStyle/>
          <a:p>
            <a:r>
              <a:rPr lang="en-US" sz="1800" b="1" dirty="0">
                <a:solidFill>
                  <a:schemeClr val="tx2"/>
                </a:solidFill>
              </a:rPr>
              <a:t>PRESENTED  BY – </a:t>
            </a:r>
          </a:p>
          <a:p>
            <a:r>
              <a:rPr lang="en-US" sz="1400" dirty="0">
                <a:solidFill>
                  <a:schemeClr val="tx2"/>
                </a:solidFill>
              </a:rPr>
              <a:t>AAYAN SHAHID - 2400101557</a:t>
            </a:r>
          </a:p>
          <a:p>
            <a:r>
              <a:rPr lang="en-US" sz="1400" dirty="0">
                <a:solidFill>
                  <a:schemeClr val="tx2"/>
                </a:solidFill>
              </a:rPr>
              <a:t>TASMIYA SALIM - 2400103213</a:t>
            </a:r>
          </a:p>
          <a:p>
            <a:r>
              <a:rPr lang="en-US" sz="1400" dirty="0">
                <a:solidFill>
                  <a:schemeClr val="tx2"/>
                </a:solidFill>
              </a:rPr>
              <a:t>TANZEELA BANO - 2400100722 </a:t>
            </a:r>
          </a:p>
          <a:p>
            <a:r>
              <a:rPr lang="en-US" sz="1400" dirty="0">
                <a:solidFill>
                  <a:schemeClr val="tx2"/>
                </a:solidFill>
              </a:rPr>
              <a:t>TAALIB RAHMAN - 2400102223</a:t>
            </a:r>
          </a:p>
          <a:p>
            <a:r>
              <a:rPr lang="en-US" sz="1400" dirty="0">
                <a:solidFill>
                  <a:schemeClr val="tx2"/>
                </a:solidFill>
              </a:rPr>
              <a:t>MOHAMMAD FAISAL - 2400103610</a:t>
            </a:r>
          </a:p>
          <a:p>
            <a:r>
              <a:rPr lang="en-US" sz="1400" dirty="0">
                <a:solidFill>
                  <a:schemeClr val="tx2"/>
                </a:solidFill>
              </a:rPr>
              <a:t>MAURICE RAJ - 240010052</a:t>
            </a:r>
            <a:endParaRPr lang="en-AE" sz="1400" dirty="0">
              <a:solidFill>
                <a:schemeClr val="tx2"/>
              </a:solidFill>
            </a:endParaRPr>
          </a:p>
        </p:txBody>
      </p:sp>
    </p:spTree>
    <p:extLst>
      <p:ext uri="{BB962C8B-B14F-4D97-AF65-F5344CB8AC3E}">
        <p14:creationId xmlns:p14="http://schemas.microsoft.com/office/powerpoint/2010/main" val="2191596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2.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118</TotalTime>
  <Words>1786</Words>
  <Application>Microsoft Office PowerPoint</Application>
  <PresentationFormat>Custom</PresentationFormat>
  <Paragraphs>162</Paragraphs>
  <Slides>15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Abadi</vt:lpstr>
      <vt:lpstr>ADLaM Display</vt:lpstr>
      <vt:lpstr>Aptos Display</vt:lpstr>
      <vt:lpstr>Arial</vt:lpstr>
      <vt:lpstr>Calibri</vt:lpstr>
      <vt:lpstr>Cambria Math</vt:lpstr>
      <vt:lpstr>Wingdings</vt:lpstr>
      <vt:lpstr>Tech 16x9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Taalib Rahman</dc:creator>
  <cp:lastModifiedBy>Tanveer Ahmed</cp:lastModifiedBy>
  <cp:revision>1</cp:revision>
  <dcterms:created xsi:type="dcterms:W3CDTF">2025-11-12T18:27:06Z</dcterms:created>
  <dcterms:modified xsi:type="dcterms:W3CDTF">2025-11-15T09:08:57Z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